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56" r:id="rId3"/>
    <p:sldId id="267" r:id="rId4"/>
    <p:sldId id="268" r:id="rId5"/>
    <p:sldId id="269" r:id="rId6"/>
    <p:sldId id="270" r:id="rId7"/>
    <p:sldId id="271" r:id="rId8"/>
    <p:sldId id="272" r:id="rId9"/>
    <p:sldId id="27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4" Type="http://schemas.openxmlformats.org/officeDocument/2006/relationships/image" Target="../media/image17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4" Type="http://schemas.openxmlformats.org/officeDocument/2006/relationships/image" Target="../media/image2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4" Type="http://schemas.openxmlformats.org/officeDocument/2006/relationships/image" Target="../media/image1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4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E7E954-ADFC-4640-A9E1-984F689B4F4B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F298A1F7-32FD-4452-B4B6-942104B63124}">
      <dgm:prSet/>
      <dgm:spPr/>
      <dgm:t>
        <a:bodyPr/>
        <a:lstStyle/>
        <a:p>
          <a:pPr>
            <a:defRPr b="1"/>
          </a:pPr>
          <a:r>
            <a:rPr lang="en-US" b="1" i="0" baseline="0"/>
            <a:t>Strengths:</a:t>
          </a:r>
          <a:endParaRPr lang="en-US"/>
        </a:p>
      </dgm:t>
    </dgm:pt>
    <dgm:pt modelId="{91604B4D-EA30-4787-8F43-94B79C58CBD9}" type="parTrans" cxnId="{75170BDA-59F2-4FFF-A4A1-D3EA0DBC6806}">
      <dgm:prSet/>
      <dgm:spPr/>
      <dgm:t>
        <a:bodyPr/>
        <a:lstStyle/>
        <a:p>
          <a:endParaRPr lang="en-US"/>
        </a:p>
      </dgm:t>
    </dgm:pt>
    <dgm:pt modelId="{55BC12EF-6C02-4842-B343-B8BDFF6182A2}" type="sibTrans" cxnId="{75170BDA-59F2-4FFF-A4A1-D3EA0DBC6806}">
      <dgm:prSet/>
      <dgm:spPr/>
      <dgm:t>
        <a:bodyPr/>
        <a:lstStyle/>
        <a:p>
          <a:endParaRPr lang="en-US"/>
        </a:p>
      </dgm:t>
    </dgm:pt>
    <dgm:pt modelId="{53195167-8979-4090-81A9-623A952A1147}">
      <dgm:prSet/>
      <dgm:spPr/>
      <dgm:t>
        <a:bodyPr/>
        <a:lstStyle/>
        <a:p>
          <a:r>
            <a:rPr lang="en-US" b="0" i="0" baseline="0"/>
            <a:t>High accuracy and scalability for binary classification.</a:t>
          </a:r>
          <a:endParaRPr lang="en-US"/>
        </a:p>
      </dgm:t>
    </dgm:pt>
    <dgm:pt modelId="{EFCD3938-5B77-4966-9342-E9870F5BDB5D}" type="parTrans" cxnId="{88DA5020-61DC-4C84-81AF-3140559A0761}">
      <dgm:prSet/>
      <dgm:spPr/>
      <dgm:t>
        <a:bodyPr/>
        <a:lstStyle/>
        <a:p>
          <a:endParaRPr lang="en-US"/>
        </a:p>
      </dgm:t>
    </dgm:pt>
    <dgm:pt modelId="{6E11BB0C-8E3E-486B-8B3D-0D46E1428F2A}" type="sibTrans" cxnId="{88DA5020-61DC-4C84-81AF-3140559A0761}">
      <dgm:prSet/>
      <dgm:spPr/>
      <dgm:t>
        <a:bodyPr/>
        <a:lstStyle/>
        <a:p>
          <a:endParaRPr lang="en-US"/>
        </a:p>
      </dgm:t>
    </dgm:pt>
    <dgm:pt modelId="{4F574014-295C-42CC-92C7-E7D045D6CA6A}">
      <dgm:prSet/>
      <dgm:spPr/>
      <dgm:t>
        <a:bodyPr/>
        <a:lstStyle/>
        <a:p>
          <a:r>
            <a:rPr lang="en-US" b="0" i="0" baseline="0"/>
            <a:t>Easy deployment with an interactive Streamlit app.</a:t>
          </a:r>
          <a:endParaRPr lang="en-US"/>
        </a:p>
      </dgm:t>
    </dgm:pt>
    <dgm:pt modelId="{DC3A1301-82BF-42B8-9499-57E34227AE5E}" type="parTrans" cxnId="{819D8DAA-D7F2-44BD-BC82-66A7359E5B06}">
      <dgm:prSet/>
      <dgm:spPr/>
      <dgm:t>
        <a:bodyPr/>
        <a:lstStyle/>
        <a:p>
          <a:endParaRPr lang="en-US"/>
        </a:p>
      </dgm:t>
    </dgm:pt>
    <dgm:pt modelId="{5DC4362B-C7AD-426B-BAFF-23588C2334C4}" type="sibTrans" cxnId="{819D8DAA-D7F2-44BD-BC82-66A7359E5B06}">
      <dgm:prSet/>
      <dgm:spPr/>
      <dgm:t>
        <a:bodyPr/>
        <a:lstStyle/>
        <a:p>
          <a:endParaRPr lang="en-US"/>
        </a:p>
      </dgm:t>
    </dgm:pt>
    <dgm:pt modelId="{C4504E53-55C5-43ED-959A-E60CC35B6E41}">
      <dgm:prSet/>
      <dgm:spPr/>
      <dgm:t>
        <a:bodyPr/>
        <a:lstStyle/>
        <a:p>
          <a:pPr>
            <a:defRPr b="1"/>
          </a:pPr>
          <a:r>
            <a:rPr lang="en-US" b="1" i="0" baseline="0"/>
            <a:t>Limitations:</a:t>
          </a:r>
          <a:endParaRPr lang="en-US"/>
        </a:p>
      </dgm:t>
    </dgm:pt>
    <dgm:pt modelId="{168AF629-C87C-4BCB-BE41-92830B9C1018}" type="parTrans" cxnId="{29D8A11C-5E54-491B-9E16-E042B5DD7C7D}">
      <dgm:prSet/>
      <dgm:spPr/>
      <dgm:t>
        <a:bodyPr/>
        <a:lstStyle/>
        <a:p>
          <a:endParaRPr lang="en-US"/>
        </a:p>
      </dgm:t>
    </dgm:pt>
    <dgm:pt modelId="{80A0F0F3-8B0F-4BD0-BCD4-F629FD40B0B5}" type="sibTrans" cxnId="{29D8A11C-5E54-491B-9E16-E042B5DD7C7D}">
      <dgm:prSet/>
      <dgm:spPr/>
      <dgm:t>
        <a:bodyPr/>
        <a:lstStyle/>
        <a:p>
          <a:endParaRPr lang="en-US"/>
        </a:p>
      </dgm:t>
    </dgm:pt>
    <dgm:pt modelId="{3CB8EF54-E1E9-47D9-90F2-DE541FA4E9F6}">
      <dgm:prSet/>
      <dgm:spPr/>
      <dgm:t>
        <a:bodyPr/>
        <a:lstStyle/>
        <a:p>
          <a:r>
            <a:rPr lang="en-US" b="0" i="0" baseline="0"/>
            <a:t>Imbalance in class distribution affects non-toxic predictions.</a:t>
          </a:r>
          <a:endParaRPr lang="en-US"/>
        </a:p>
      </dgm:t>
    </dgm:pt>
    <dgm:pt modelId="{CBA43396-B2F6-4191-95B9-C81CDE867C2A}" type="parTrans" cxnId="{C4CB2581-12DC-4E24-9A3D-36AA00066735}">
      <dgm:prSet/>
      <dgm:spPr/>
      <dgm:t>
        <a:bodyPr/>
        <a:lstStyle/>
        <a:p>
          <a:endParaRPr lang="en-US"/>
        </a:p>
      </dgm:t>
    </dgm:pt>
    <dgm:pt modelId="{F6B1D533-DBF8-436C-BC1F-BD27E6552906}" type="sibTrans" cxnId="{C4CB2581-12DC-4E24-9A3D-36AA00066735}">
      <dgm:prSet/>
      <dgm:spPr/>
      <dgm:t>
        <a:bodyPr/>
        <a:lstStyle/>
        <a:p>
          <a:endParaRPr lang="en-US"/>
        </a:p>
      </dgm:t>
    </dgm:pt>
    <dgm:pt modelId="{FFB27C63-3B71-49F5-ABD5-C52EEF005C5D}">
      <dgm:prSet/>
      <dgm:spPr/>
      <dgm:t>
        <a:bodyPr/>
        <a:lstStyle/>
        <a:p>
          <a:r>
            <a:rPr lang="en-US" b="0" i="0" baseline="0"/>
            <a:t>Complex toxicity level predictions require further tuning.</a:t>
          </a:r>
          <a:endParaRPr lang="en-US"/>
        </a:p>
      </dgm:t>
    </dgm:pt>
    <dgm:pt modelId="{73A36BD7-1070-42B8-A3C6-B54A92905E74}" type="parTrans" cxnId="{10FC13D3-0930-4971-B772-55115A205267}">
      <dgm:prSet/>
      <dgm:spPr/>
      <dgm:t>
        <a:bodyPr/>
        <a:lstStyle/>
        <a:p>
          <a:endParaRPr lang="en-US"/>
        </a:p>
      </dgm:t>
    </dgm:pt>
    <dgm:pt modelId="{55FD68EB-D091-4D65-8A15-045DF056D3C8}" type="sibTrans" cxnId="{10FC13D3-0930-4971-B772-55115A205267}">
      <dgm:prSet/>
      <dgm:spPr/>
      <dgm:t>
        <a:bodyPr/>
        <a:lstStyle/>
        <a:p>
          <a:endParaRPr lang="en-US"/>
        </a:p>
      </dgm:t>
    </dgm:pt>
    <dgm:pt modelId="{D38FCFB3-A9EC-465E-BBD4-E62B27716FF5}">
      <dgm:prSet/>
      <dgm:spPr/>
      <dgm:t>
        <a:bodyPr/>
        <a:lstStyle/>
        <a:p>
          <a:pPr>
            <a:defRPr b="1"/>
          </a:pPr>
          <a:r>
            <a:rPr lang="en-US" b="1" i="0" baseline="0"/>
            <a:t>Proposed Improvements:</a:t>
          </a:r>
          <a:endParaRPr lang="en-US"/>
        </a:p>
      </dgm:t>
    </dgm:pt>
    <dgm:pt modelId="{DDFD40DE-490E-4560-9CC4-73BF1836BD53}" type="parTrans" cxnId="{AE44875B-3AB6-4A90-BDFB-F656562D38CD}">
      <dgm:prSet/>
      <dgm:spPr/>
      <dgm:t>
        <a:bodyPr/>
        <a:lstStyle/>
        <a:p>
          <a:endParaRPr lang="en-US"/>
        </a:p>
      </dgm:t>
    </dgm:pt>
    <dgm:pt modelId="{AB2F4D10-280D-467E-95DF-8439E0D31B27}" type="sibTrans" cxnId="{AE44875B-3AB6-4A90-BDFB-F656562D38CD}">
      <dgm:prSet/>
      <dgm:spPr/>
      <dgm:t>
        <a:bodyPr/>
        <a:lstStyle/>
        <a:p>
          <a:endParaRPr lang="en-US"/>
        </a:p>
      </dgm:t>
    </dgm:pt>
    <dgm:pt modelId="{0FB217C8-87F5-45D2-88DC-EF57DCB42AC7}">
      <dgm:prSet/>
      <dgm:spPr/>
      <dgm:t>
        <a:bodyPr/>
        <a:lstStyle/>
        <a:p>
          <a:r>
            <a:rPr lang="en-US" b="0" i="0" baseline="0"/>
            <a:t>Use oversampling techniques like SMOTE to balance data.</a:t>
          </a:r>
          <a:endParaRPr lang="en-US"/>
        </a:p>
      </dgm:t>
    </dgm:pt>
    <dgm:pt modelId="{6EFE12C0-3F44-4A75-94D6-27F833A86159}" type="parTrans" cxnId="{EB2872BA-282E-4A15-A41E-A3ACAA2E372A}">
      <dgm:prSet/>
      <dgm:spPr/>
      <dgm:t>
        <a:bodyPr/>
        <a:lstStyle/>
        <a:p>
          <a:endParaRPr lang="en-US"/>
        </a:p>
      </dgm:t>
    </dgm:pt>
    <dgm:pt modelId="{53CAA3FC-133E-46BE-8D6F-21F29C4D8C53}" type="sibTrans" cxnId="{EB2872BA-282E-4A15-A41E-A3ACAA2E372A}">
      <dgm:prSet/>
      <dgm:spPr/>
      <dgm:t>
        <a:bodyPr/>
        <a:lstStyle/>
        <a:p>
          <a:endParaRPr lang="en-US"/>
        </a:p>
      </dgm:t>
    </dgm:pt>
    <dgm:pt modelId="{8B3E3418-6C5E-4D99-9D65-FD697CEBB32D}">
      <dgm:prSet/>
      <dgm:spPr/>
      <dgm:t>
        <a:bodyPr/>
        <a:lstStyle/>
        <a:p>
          <a:r>
            <a:rPr lang="en-US" b="0" i="0" baseline="0"/>
            <a:t>Simplify toxicity levels for clarity and better predictions.</a:t>
          </a:r>
          <a:endParaRPr lang="en-US"/>
        </a:p>
      </dgm:t>
    </dgm:pt>
    <dgm:pt modelId="{D7F77ABC-77BD-4211-A875-5EEFCC6F7B80}" type="parTrans" cxnId="{879A1AB7-0E7C-4966-B1E6-1FF60F70320F}">
      <dgm:prSet/>
      <dgm:spPr/>
      <dgm:t>
        <a:bodyPr/>
        <a:lstStyle/>
        <a:p>
          <a:endParaRPr lang="en-US"/>
        </a:p>
      </dgm:t>
    </dgm:pt>
    <dgm:pt modelId="{EF3E79AE-B9BE-4C68-AF18-3945101646BF}" type="sibTrans" cxnId="{879A1AB7-0E7C-4966-B1E6-1FF60F70320F}">
      <dgm:prSet/>
      <dgm:spPr/>
      <dgm:t>
        <a:bodyPr/>
        <a:lstStyle/>
        <a:p>
          <a:endParaRPr lang="en-US"/>
        </a:p>
      </dgm:t>
    </dgm:pt>
    <dgm:pt modelId="{2F4F3185-CA3A-4C98-8290-9737BCC6550E}">
      <dgm:prSet/>
      <dgm:spPr/>
      <dgm:t>
        <a:bodyPr/>
        <a:lstStyle/>
        <a:p>
          <a:r>
            <a:rPr lang="en-US" b="0" i="0" baseline="0"/>
            <a:t>Explore interpretability with SHAP for feature importance.</a:t>
          </a:r>
          <a:endParaRPr lang="en-US"/>
        </a:p>
      </dgm:t>
    </dgm:pt>
    <dgm:pt modelId="{91EB8B87-94A7-4CB6-87CA-CADC23418F10}" type="parTrans" cxnId="{FDC0378D-76DA-49A1-859D-AE4ECC6DBD03}">
      <dgm:prSet/>
      <dgm:spPr/>
      <dgm:t>
        <a:bodyPr/>
        <a:lstStyle/>
        <a:p>
          <a:endParaRPr lang="en-US"/>
        </a:p>
      </dgm:t>
    </dgm:pt>
    <dgm:pt modelId="{06F059A3-8605-4598-9D64-A85992B8CB5B}" type="sibTrans" cxnId="{FDC0378D-76DA-49A1-859D-AE4ECC6DBD03}">
      <dgm:prSet/>
      <dgm:spPr/>
      <dgm:t>
        <a:bodyPr/>
        <a:lstStyle/>
        <a:p>
          <a:endParaRPr lang="en-US"/>
        </a:p>
      </dgm:t>
    </dgm:pt>
    <dgm:pt modelId="{F363E0D3-858F-49F0-A5AA-0434557CDDC7}" type="pres">
      <dgm:prSet presAssocID="{55E7E954-ADFC-4640-A9E1-984F689B4F4B}" presName="root" presStyleCnt="0">
        <dgm:presLayoutVars>
          <dgm:dir/>
          <dgm:resizeHandles val="exact"/>
        </dgm:presLayoutVars>
      </dgm:prSet>
      <dgm:spPr/>
    </dgm:pt>
    <dgm:pt modelId="{EDB016C1-C10A-462F-9EEB-C28528162B58}" type="pres">
      <dgm:prSet presAssocID="{F298A1F7-32FD-4452-B4B6-942104B63124}" presName="compNode" presStyleCnt="0"/>
      <dgm:spPr/>
    </dgm:pt>
    <dgm:pt modelId="{9659CF46-D33A-47CA-BD70-90E203B4B2F7}" type="pres">
      <dgm:prSet presAssocID="{F298A1F7-32FD-4452-B4B6-942104B6312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C789352-AFA4-42A8-9D5C-D93735FEDB38}" type="pres">
      <dgm:prSet presAssocID="{F298A1F7-32FD-4452-B4B6-942104B63124}" presName="iconSpace" presStyleCnt="0"/>
      <dgm:spPr/>
    </dgm:pt>
    <dgm:pt modelId="{4056E76C-82F4-4037-81A6-1AB1C35167C9}" type="pres">
      <dgm:prSet presAssocID="{F298A1F7-32FD-4452-B4B6-942104B63124}" presName="parTx" presStyleLbl="revTx" presStyleIdx="0" presStyleCnt="6">
        <dgm:presLayoutVars>
          <dgm:chMax val="0"/>
          <dgm:chPref val="0"/>
        </dgm:presLayoutVars>
      </dgm:prSet>
      <dgm:spPr/>
    </dgm:pt>
    <dgm:pt modelId="{18756114-EFF2-4CEE-BBA0-8F37A685E5DC}" type="pres">
      <dgm:prSet presAssocID="{F298A1F7-32FD-4452-B4B6-942104B63124}" presName="txSpace" presStyleCnt="0"/>
      <dgm:spPr/>
    </dgm:pt>
    <dgm:pt modelId="{83DA69CA-B75C-43DD-9023-5FA3562E6524}" type="pres">
      <dgm:prSet presAssocID="{F298A1F7-32FD-4452-B4B6-942104B63124}" presName="desTx" presStyleLbl="revTx" presStyleIdx="1" presStyleCnt="6">
        <dgm:presLayoutVars/>
      </dgm:prSet>
      <dgm:spPr/>
    </dgm:pt>
    <dgm:pt modelId="{BAD134DD-2762-4A3F-AC76-56C8011415A5}" type="pres">
      <dgm:prSet presAssocID="{55BC12EF-6C02-4842-B343-B8BDFF6182A2}" presName="sibTrans" presStyleCnt="0"/>
      <dgm:spPr/>
    </dgm:pt>
    <dgm:pt modelId="{21199781-BF30-4191-9FE3-97A4B8551745}" type="pres">
      <dgm:prSet presAssocID="{C4504E53-55C5-43ED-959A-E60CC35B6E41}" presName="compNode" presStyleCnt="0"/>
      <dgm:spPr/>
    </dgm:pt>
    <dgm:pt modelId="{17C2D645-6299-46AE-9470-DED12174A0E3}" type="pres">
      <dgm:prSet presAssocID="{C4504E53-55C5-43ED-959A-E60CC35B6E4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dioactive"/>
        </a:ext>
      </dgm:extLst>
    </dgm:pt>
    <dgm:pt modelId="{B4F53F02-4CE5-4249-8099-EAFE91B6557C}" type="pres">
      <dgm:prSet presAssocID="{C4504E53-55C5-43ED-959A-E60CC35B6E41}" presName="iconSpace" presStyleCnt="0"/>
      <dgm:spPr/>
    </dgm:pt>
    <dgm:pt modelId="{D88CE54A-FFEB-46E0-BE1B-5773288FEBCE}" type="pres">
      <dgm:prSet presAssocID="{C4504E53-55C5-43ED-959A-E60CC35B6E41}" presName="parTx" presStyleLbl="revTx" presStyleIdx="2" presStyleCnt="6">
        <dgm:presLayoutVars>
          <dgm:chMax val="0"/>
          <dgm:chPref val="0"/>
        </dgm:presLayoutVars>
      </dgm:prSet>
      <dgm:spPr/>
    </dgm:pt>
    <dgm:pt modelId="{9B706B2F-1505-42C7-9FFB-7EB88EAFCE75}" type="pres">
      <dgm:prSet presAssocID="{C4504E53-55C5-43ED-959A-E60CC35B6E41}" presName="txSpace" presStyleCnt="0"/>
      <dgm:spPr/>
    </dgm:pt>
    <dgm:pt modelId="{795832A7-53AA-4401-A277-E6FA61A7F458}" type="pres">
      <dgm:prSet presAssocID="{C4504E53-55C5-43ED-959A-E60CC35B6E41}" presName="desTx" presStyleLbl="revTx" presStyleIdx="3" presStyleCnt="6">
        <dgm:presLayoutVars/>
      </dgm:prSet>
      <dgm:spPr/>
    </dgm:pt>
    <dgm:pt modelId="{DD43E644-84ED-480B-B802-03459F8255F1}" type="pres">
      <dgm:prSet presAssocID="{80A0F0F3-8B0F-4BD0-BCD4-F629FD40B0B5}" presName="sibTrans" presStyleCnt="0"/>
      <dgm:spPr/>
    </dgm:pt>
    <dgm:pt modelId="{DEC42261-35C7-4B43-9963-DFCCE5A82501}" type="pres">
      <dgm:prSet presAssocID="{D38FCFB3-A9EC-465E-BBD4-E62B27716FF5}" presName="compNode" presStyleCnt="0"/>
      <dgm:spPr/>
    </dgm:pt>
    <dgm:pt modelId="{64A4547B-8BCB-4CDD-A448-7768B9A33B98}" type="pres">
      <dgm:prSet presAssocID="{D38FCFB3-A9EC-465E-BBD4-E62B27716FF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aker"/>
        </a:ext>
      </dgm:extLst>
    </dgm:pt>
    <dgm:pt modelId="{284604BF-7F1E-4E41-BB72-96E182BC8BE8}" type="pres">
      <dgm:prSet presAssocID="{D38FCFB3-A9EC-465E-BBD4-E62B27716FF5}" presName="iconSpace" presStyleCnt="0"/>
      <dgm:spPr/>
    </dgm:pt>
    <dgm:pt modelId="{BCBDD8D8-FDE4-4478-85A7-59E035AB8293}" type="pres">
      <dgm:prSet presAssocID="{D38FCFB3-A9EC-465E-BBD4-E62B27716FF5}" presName="parTx" presStyleLbl="revTx" presStyleIdx="4" presStyleCnt="6">
        <dgm:presLayoutVars>
          <dgm:chMax val="0"/>
          <dgm:chPref val="0"/>
        </dgm:presLayoutVars>
      </dgm:prSet>
      <dgm:spPr/>
    </dgm:pt>
    <dgm:pt modelId="{6B26A672-8A46-431E-A239-C9C09E0544F2}" type="pres">
      <dgm:prSet presAssocID="{D38FCFB3-A9EC-465E-BBD4-E62B27716FF5}" presName="txSpace" presStyleCnt="0"/>
      <dgm:spPr/>
    </dgm:pt>
    <dgm:pt modelId="{CEC69033-DE65-4C7B-8488-2B61C9EC4BB3}" type="pres">
      <dgm:prSet presAssocID="{D38FCFB3-A9EC-465E-BBD4-E62B27716FF5}" presName="desTx" presStyleLbl="revTx" presStyleIdx="5" presStyleCnt="6">
        <dgm:presLayoutVars/>
      </dgm:prSet>
      <dgm:spPr/>
    </dgm:pt>
  </dgm:ptLst>
  <dgm:cxnLst>
    <dgm:cxn modelId="{EF5A4D19-16D1-40D6-9188-3C949AA2F28D}" type="presOf" srcId="{4F574014-295C-42CC-92C7-E7D045D6CA6A}" destId="{83DA69CA-B75C-43DD-9023-5FA3562E6524}" srcOrd="0" destOrd="1" presId="urn:microsoft.com/office/officeart/2018/2/layout/IconLabelDescriptionList"/>
    <dgm:cxn modelId="{29D8A11C-5E54-491B-9E16-E042B5DD7C7D}" srcId="{55E7E954-ADFC-4640-A9E1-984F689B4F4B}" destId="{C4504E53-55C5-43ED-959A-E60CC35B6E41}" srcOrd="1" destOrd="0" parTransId="{168AF629-C87C-4BCB-BE41-92830B9C1018}" sibTransId="{80A0F0F3-8B0F-4BD0-BCD4-F629FD40B0B5}"/>
    <dgm:cxn modelId="{88DA5020-61DC-4C84-81AF-3140559A0761}" srcId="{F298A1F7-32FD-4452-B4B6-942104B63124}" destId="{53195167-8979-4090-81A9-623A952A1147}" srcOrd="0" destOrd="0" parTransId="{EFCD3938-5B77-4966-9342-E9870F5BDB5D}" sibTransId="{6E11BB0C-8E3E-486B-8B3D-0D46E1428F2A}"/>
    <dgm:cxn modelId="{AE44875B-3AB6-4A90-BDFB-F656562D38CD}" srcId="{55E7E954-ADFC-4640-A9E1-984F689B4F4B}" destId="{D38FCFB3-A9EC-465E-BBD4-E62B27716FF5}" srcOrd="2" destOrd="0" parTransId="{DDFD40DE-490E-4560-9CC4-73BF1836BD53}" sibTransId="{AB2F4D10-280D-467E-95DF-8439E0D31B27}"/>
    <dgm:cxn modelId="{8BEBA642-5BF2-49C8-BC3A-CD0DC03142E0}" type="presOf" srcId="{53195167-8979-4090-81A9-623A952A1147}" destId="{83DA69CA-B75C-43DD-9023-5FA3562E6524}" srcOrd="0" destOrd="0" presId="urn:microsoft.com/office/officeart/2018/2/layout/IconLabelDescriptionList"/>
    <dgm:cxn modelId="{62D2B252-C2DC-4FD7-9D62-C553D095458E}" type="presOf" srcId="{55E7E954-ADFC-4640-A9E1-984F689B4F4B}" destId="{F363E0D3-858F-49F0-A5AA-0434557CDDC7}" srcOrd="0" destOrd="0" presId="urn:microsoft.com/office/officeart/2018/2/layout/IconLabelDescriptionList"/>
    <dgm:cxn modelId="{511FEB74-1B67-465D-973A-CB1E19FE6A7A}" type="presOf" srcId="{8B3E3418-6C5E-4D99-9D65-FD697CEBB32D}" destId="{CEC69033-DE65-4C7B-8488-2B61C9EC4BB3}" srcOrd="0" destOrd="1" presId="urn:microsoft.com/office/officeart/2018/2/layout/IconLabelDescriptionList"/>
    <dgm:cxn modelId="{726E3777-950D-4489-A313-ACA0E210415C}" type="presOf" srcId="{0FB217C8-87F5-45D2-88DC-EF57DCB42AC7}" destId="{CEC69033-DE65-4C7B-8488-2B61C9EC4BB3}" srcOrd="0" destOrd="0" presId="urn:microsoft.com/office/officeart/2018/2/layout/IconLabelDescriptionList"/>
    <dgm:cxn modelId="{C4CB2581-12DC-4E24-9A3D-36AA00066735}" srcId="{C4504E53-55C5-43ED-959A-E60CC35B6E41}" destId="{3CB8EF54-E1E9-47D9-90F2-DE541FA4E9F6}" srcOrd="0" destOrd="0" parTransId="{CBA43396-B2F6-4191-95B9-C81CDE867C2A}" sibTransId="{F6B1D533-DBF8-436C-BC1F-BD27E6552906}"/>
    <dgm:cxn modelId="{FDC0378D-76DA-49A1-859D-AE4ECC6DBD03}" srcId="{D38FCFB3-A9EC-465E-BBD4-E62B27716FF5}" destId="{2F4F3185-CA3A-4C98-8290-9737BCC6550E}" srcOrd="2" destOrd="0" parTransId="{91EB8B87-94A7-4CB6-87CA-CADC23418F10}" sibTransId="{06F059A3-8605-4598-9D64-A85992B8CB5B}"/>
    <dgm:cxn modelId="{3A2CFC9D-1336-4299-AAD8-47B575C82EA5}" type="presOf" srcId="{FFB27C63-3B71-49F5-ABD5-C52EEF005C5D}" destId="{795832A7-53AA-4401-A277-E6FA61A7F458}" srcOrd="0" destOrd="1" presId="urn:microsoft.com/office/officeart/2018/2/layout/IconLabelDescriptionList"/>
    <dgm:cxn modelId="{0AC704A1-B30E-4C8B-9286-8734A65D2596}" type="presOf" srcId="{3CB8EF54-E1E9-47D9-90F2-DE541FA4E9F6}" destId="{795832A7-53AA-4401-A277-E6FA61A7F458}" srcOrd="0" destOrd="0" presId="urn:microsoft.com/office/officeart/2018/2/layout/IconLabelDescriptionList"/>
    <dgm:cxn modelId="{C11E68A5-096B-42EF-937E-C267D00447F8}" type="presOf" srcId="{C4504E53-55C5-43ED-959A-E60CC35B6E41}" destId="{D88CE54A-FFEB-46E0-BE1B-5773288FEBCE}" srcOrd="0" destOrd="0" presId="urn:microsoft.com/office/officeart/2018/2/layout/IconLabelDescriptionList"/>
    <dgm:cxn modelId="{819D8DAA-D7F2-44BD-BC82-66A7359E5B06}" srcId="{F298A1F7-32FD-4452-B4B6-942104B63124}" destId="{4F574014-295C-42CC-92C7-E7D045D6CA6A}" srcOrd="1" destOrd="0" parTransId="{DC3A1301-82BF-42B8-9499-57E34227AE5E}" sibTransId="{5DC4362B-C7AD-426B-BAFF-23588C2334C4}"/>
    <dgm:cxn modelId="{879A1AB7-0E7C-4966-B1E6-1FF60F70320F}" srcId="{D38FCFB3-A9EC-465E-BBD4-E62B27716FF5}" destId="{8B3E3418-6C5E-4D99-9D65-FD697CEBB32D}" srcOrd="1" destOrd="0" parTransId="{D7F77ABC-77BD-4211-A875-5EEFCC6F7B80}" sibTransId="{EF3E79AE-B9BE-4C68-AF18-3945101646BF}"/>
    <dgm:cxn modelId="{EB2872BA-282E-4A15-A41E-A3ACAA2E372A}" srcId="{D38FCFB3-A9EC-465E-BBD4-E62B27716FF5}" destId="{0FB217C8-87F5-45D2-88DC-EF57DCB42AC7}" srcOrd="0" destOrd="0" parTransId="{6EFE12C0-3F44-4A75-94D6-27F833A86159}" sibTransId="{53CAA3FC-133E-46BE-8D6F-21F29C4D8C53}"/>
    <dgm:cxn modelId="{7B9262CD-858F-46E4-AB9D-4CFEA894E8C7}" type="presOf" srcId="{2F4F3185-CA3A-4C98-8290-9737BCC6550E}" destId="{CEC69033-DE65-4C7B-8488-2B61C9EC4BB3}" srcOrd="0" destOrd="2" presId="urn:microsoft.com/office/officeart/2018/2/layout/IconLabelDescriptionList"/>
    <dgm:cxn modelId="{10FC13D3-0930-4971-B772-55115A205267}" srcId="{C4504E53-55C5-43ED-959A-E60CC35B6E41}" destId="{FFB27C63-3B71-49F5-ABD5-C52EEF005C5D}" srcOrd="1" destOrd="0" parTransId="{73A36BD7-1070-42B8-A3C6-B54A92905E74}" sibTransId="{55FD68EB-D091-4D65-8A15-045DF056D3C8}"/>
    <dgm:cxn modelId="{15E4C8D3-5D3E-4B4E-A6D5-879D80E5AD9E}" type="presOf" srcId="{D38FCFB3-A9EC-465E-BBD4-E62B27716FF5}" destId="{BCBDD8D8-FDE4-4478-85A7-59E035AB8293}" srcOrd="0" destOrd="0" presId="urn:microsoft.com/office/officeart/2018/2/layout/IconLabelDescriptionList"/>
    <dgm:cxn modelId="{75170BDA-59F2-4FFF-A4A1-D3EA0DBC6806}" srcId="{55E7E954-ADFC-4640-A9E1-984F689B4F4B}" destId="{F298A1F7-32FD-4452-B4B6-942104B63124}" srcOrd="0" destOrd="0" parTransId="{91604B4D-EA30-4787-8F43-94B79C58CBD9}" sibTransId="{55BC12EF-6C02-4842-B343-B8BDFF6182A2}"/>
    <dgm:cxn modelId="{ACCB96F1-733A-4FDF-BF4E-50405F37A999}" type="presOf" srcId="{F298A1F7-32FD-4452-B4B6-942104B63124}" destId="{4056E76C-82F4-4037-81A6-1AB1C35167C9}" srcOrd="0" destOrd="0" presId="urn:microsoft.com/office/officeart/2018/2/layout/IconLabelDescriptionList"/>
    <dgm:cxn modelId="{2893E663-E19D-4257-BF52-72272AD0B6A0}" type="presParOf" srcId="{F363E0D3-858F-49F0-A5AA-0434557CDDC7}" destId="{EDB016C1-C10A-462F-9EEB-C28528162B58}" srcOrd="0" destOrd="0" presId="urn:microsoft.com/office/officeart/2018/2/layout/IconLabelDescriptionList"/>
    <dgm:cxn modelId="{AEAD124D-B8B2-46DB-B906-4B6CBC9D817F}" type="presParOf" srcId="{EDB016C1-C10A-462F-9EEB-C28528162B58}" destId="{9659CF46-D33A-47CA-BD70-90E203B4B2F7}" srcOrd="0" destOrd="0" presId="urn:microsoft.com/office/officeart/2018/2/layout/IconLabelDescriptionList"/>
    <dgm:cxn modelId="{9888E137-9238-4FEC-B93D-08943CEAA5EF}" type="presParOf" srcId="{EDB016C1-C10A-462F-9EEB-C28528162B58}" destId="{EC789352-AFA4-42A8-9D5C-D93735FEDB38}" srcOrd="1" destOrd="0" presId="urn:microsoft.com/office/officeart/2018/2/layout/IconLabelDescriptionList"/>
    <dgm:cxn modelId="{CA059541-7919-49E1-BDE3-72083444EBBD}" type="presParOf" srcId="{EDB016C1-C10A-462F-9EEB-C28528162B58}" destId="{4056E76C-82F4-4037-81A6-1AB1C35167C9}" srcOrd="2" destOrd="0" presId="urn:microsoft.com/office/officeart/2018/2/layout/IconLabelDescriptionList"/>
    <dgm:cxn modelId="{7954EFD8-A161-4274-93E0-9058D9EDC189}" type="presParOf" srcId="{EDB016C1-C10A-462F-9EEB-C28528162B58}" destId="{18756114-EFF2-4CEE-BBA0-8F37A685E5DC}" srcOrd="3" destOrd="0" presId="urn:microsoft.com/office/officeart/2018/2/layout/IconLabelDescriptionList"/>
    <dgm:cxn modelId="{A0542C51-F490-402B-BD9A-5FDB769ECC46}" type="presParOf" srcId="{EDB016C1-C10A-462F-9EEB-C28528162B58}" destId="{83DA69CA-B75C-43DD-9023-5FA3562E6524}" srcOrd="4" destOrd="0" presId="urn:microsoft.com/office/officeart/2018/2/layout/IconLabelDescriptionList"/>
    <dgm:cxn modelId="{2345E1FA-25F5-4D70-BAC1-FFA7DC7993B4}" type="presParOf" srcId="{F363E0D3-858F-49F0-A5AA-0434557CDDC7}" destId="{BAD134DD-2762-4A3F-AC76-56C8011415A5}" srcOrd="1" destOrd="0" presId="urn:microsoft.com/office/officeart/2018/2/layout/IconLabelDescriptionList"/>
    <dgm:cxn modelId="{814CD7E9-8D3E-48ED-9DD6-0C79B0B09AD2}" type="presParOf" srcId="{F363E0D3-858F-49F0-A5AA-0434557CDDC7}" destId="{21199781-BF30-4191-9FE3-97A4B8551745}" srcOrd="2" destOrd="0" presId="urn:microsoft.com/office/officeart/2018/2/layout/IconLabelDescriptionList"/>
    <dgm:cxn modelId="{6C7F5422-AC1E-4CC4-A977-CF6E4576519A}" type="presParOf" srcId="{21199781-BF30-4191-9FE3-97A4B8551745}" destId="{17C2D645-6299-46AE-9470-DED12174A0E3}" srcOrd="0" destOrd="0" presId="urn:microsoft.com/office/officeart/2018/2/layout/IconLabelDescriptionList"/>
    <dgm:cxn modelId="{96AE86AB-9FD4-482F-AB0F-7A1F2266236E}" type="presParOf" srcId="{21199781-BF30-4191-9FE3-97A4B8551745}" destId="{B4F53F02-4CE5-4249-8099-EAFE91B6557C}" srcOrd="1" destOrd="0" presId="urn:microsoft.com/office/officeart/2018/2/layout/IconLabelDescriptionList"/>
    <dgm:cxn modelId="{6670C97E-D6F3-46BC-91C6-3D3AA5708EDF}" type="presParOf" srcId="{21199781-BF30-4191-9FE3-97A4B8551745}" destId="{D88CE54A-FFEB-46E0-BE1B-5773288FEBCE}" srcOrd="2" destOrd="0" presId="urn:microsoft.com/office/officeart/2018/2/layout/IconLabelDescriptionList"/>
    <dgm:cxn modelId="{C02FE862-DE14-40D3-A93E-F8400C3B4E2D}" type="presParOf" srcId="{21199781-BF30-4191-9FE3-97A4B8551745}" destId="{9B706B2F-1505-42C7-9FFB-7EB88EAFCE75}" srcOrd="3" destOrd="0" presId="urn:microsoft.com/office/officeart/2018/2/layout/IconLabelDescriptionList"/>
    <dgm:cxn modelId="{6577FB4E-D235-4C4C-B49A-C1207E36048D}" type="presParOf" srcId="{21199781-BF30-4191-9FE3-97A4B8551745}" destId="{795832A7-53AA-4401-A277-E6FA61A7F458}" srcOrd="4" destOrd="0" presId="urn:microsoft.com/office/officeart/2018/2/layout/IconLabelDescriptionList"/>
    <dgm:cxn modelId="{F836ECE8-30EE-4473-B57F-E4BD73EBB5A8}" type="presParOf" srcId="{F363E0D3-858F-49F0-A5AA-0434557CDDC7}" destId="{DD43E644-84ED-480B-B802-03459F8255F1}" srcOrd="3" destOrd="0" presId="urn:microsoft.com/office/officeart/2018/2/layout/IconLabelDescriptionList"/>
    <dgm:cxn modelId="{0EFB284F-8194-4E70-90BA-B7B26FB4E43F}" type="presParOf" srcId="{F363E0D3-858F-49F0-A5AA-0434557CDDC7}" destId="{DEC42261-35C7-4B43-9963-DFCCE5A82501}" srcOrd="4" destOrd="0" presId="urn:microsoft.com/office/officeart/2018/2/layout/IconLabelDescriptionList"/>
    <dgm:cxn modelId="{433F8350-1C56-4853-9BCD-08C27935EF81}" type="presParOf" srcId="{DEC42261-35C7-4B43-9963-DFCCE5A82501}" destId="{64A4547B-8BCB-4CDD-A448-7768B9A33B98}" srcOrd="0" destOrd="0" presId="urn:microsoft.com/office/officeart/2018/2/layout/IconLabelDescriptionList"/>
    <dgm:cxn modelId="{AED5021A-5E6A-4F3B-A1C6-19D224BBAD81}" type="presParOf" srcId="{DEC42261-35C7-4B43-9963-DFCCE5A82501}" destId="{284604BF-7F1E-4E41-BB72-96E182BC8BE8}" srcOrd="1" destOrd="0" presId="urn:microsoft.com/office/officeart/2018/2/layout/IconLabelDescriptionList"/>
    <dgm:cxn modelId="{C46E2370-80C2-4504-8B1B-BBB9493E2530}" type="presParOf" srcId="{DEC42261-35C7-4B43-9963-DFCCE5A82501}" destId="{BCBDD8D8-FDE4-4478-85A7-59E035AB8293}" srcOrd="2" destOrd="0" presId="urn:microsoft.com/office/officeart/2018/2/layout/IconLabelDescriptionList"/>
    <dgm:cxn modelId="{42D84758-989D-4345-A3C6-DE3AA5089815}" type="presParOf" srcId="{DEC42261-35C7-4B43-9963-DFCCE5A82501}" destId="{6B26A672-8A46-431E-A239-C9C09E0544F2}" srcOrd="3" destOrd="0" presId="urn:microsoft.com/office/officeart/2018/2/layout/IconLabelDescriptionList"/>
    <dgm:cxn modelId="{CE4ECE91-E753-4169-903C-4B71B2926E2E}" type="presParOf" srcId="{DEC42261-35C7-4B43-9963-DFCCE5A82501}" destId="{CEC69033-DE65-4C7B-8488-2B61C9EC4BB3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762F899-57D5-4661-B8D7-FACDBA8A16B5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03D6537-6D89-4D26-87B8-A4D8BDF3D590}">
      <dgm:prSet/>
      <dgm:spPr/>
      <dgm:t>
        <a:bodyPr/>
        <a:lstStyle/>
        <a:p>
          <a:pPr>
            <a:defRPr b="1"/>
          </a:pPr>
          <a:r>
            <a:rPr lang="en-US" b="1"/>
            <a:t>Achievements:</a:t>
          </a:r>
          <a:endParaRPr lang="en-US"/>
        </a:p>
      </dgm:t>
    </dgm:pt>
    <dgm:pt modelId="{F4CA1A9A-247F-401F-9E70-61CA4DC9A74C}" type="parTrans" cxnId="{9B49865B-DC32-4CCC-A943-08C6E1856BD2}">
      <dgm:prSet/>
      <dgm:spPr/>
      <dgm:t>
        <a:bodyPr/>
        <a:lstStyle/>
        <a:p>
          <a:endParaRPr lang="en-US"/>
        </a:p>
      </dgm:t>
    </dgm:pt>
    <dgm:pt modelId="{57A605B0-CCA8-4CED-835C-10AB99184EEF}" type="sibTrans" cxnId="{9B49865B-DC32-4CCC-A943-08C6E1856BD2}">
      <dgm:prSet/>
      <dgm:spPr/>
      <dgm:t>
        <a:bodyPr/>
        <a:lstStyle/>
        <a:p>
          <a:endParaRPr lang="en-US"/>
        </a:p>
      </dgm:t>
    </dgm:pt>
    <dgm:pt modelId="{688B55FF-156B-44A1-8E4A-D3E73B86698A}">
      <dgm:prSet/>
      <dgm:spPr/>
      <dgm:t>
        <a:bodyPr/>
        <a:lstStyle/>
        <a:p>
          <a:r>
            <a:rPr lang="en-US"/>
            <a:t>Demonstrated AI’s potential in predictive toxicology.</a:t>
          </a:r>
        </a:p>
      </dgm:t>
    </dgm:pt>
    <dgm:pt modelId="{0ADB0A67-7B57-4014-B05E-095131DDC623}" type="parTrans" cxnId="{75CE2B27-C157-44FC-BC4D-2948755D4A08}">
      <dgm:prSet/>
      <dgm:spPr/>
      <dgm:t>
        <a:bodyPr/>
        <a:lstStyle/>
        <a:p>
          <a:endParaRPr lang="en-US"/>
        </a:p>
      </dgm:t>
    </dgm:pt>
    <dgm:pt modelId="{7A572D04-CE77-4EEA-823E-465FA25E2B14}" type="sibTrans" cxnId="{75CE2B27-C157-44FC-BC4D-2948755D4A08}">
      <dgm:prSet/>
      <dgm:spPr/>
      <dgm:t>
        <a:bodyPr/>
        <a:lstStyle/>
        <a:p>
          <a:endParaRPr lang="en-US"/>
        </a:p>
      </dgm:t>
    </dgm:pt>
    <dgm:pt modelId="{11E89AE3-ADE9-4825-BD6E-EB697C514617}">
      <dgm:prSet/>
      <dgm:spPr/>
      <dgm:t>
        <a:bodyPr/>
        <a:lstStyle/>
        <a:p>
          <a:r>
            <a:rPr lang="en-US"/>
            <a:t>Validated models with high precision and R² scores.</a:t>
          </a:r>
        </a:p>
      </dgm:t>
    </dgm:pt>
    <dgm:pt modelId="{F071F582-F377-41BF-AC0A-1493F661F59D}" type="parTrans" cxnId="{2E6F000E-6B6F-4461-8216-C55DAEC6E3FE}">
      <dgm:prSet/>
      <dgm:spPr/>
      <dgm:t>
        <a:bodyPr/>
        <a:lstStyle/>
        <a:p>
          <a:endParaRPr lang="en-US"/>
        </a:p>
      </dgm:t>
    </dgm:pt>
    <dgm:pt modelId="{B6A67579-5EDD-4F16-A091-8E9B7E2ECF05}" type="sibTrans" cxnId="{2E6F000E-6B6F-4461-8216-C55DAEC6E3FE}">
      <dgm:prSet/>
      <dgm:spPr/>
      <dgm:t>
        <a:bodyPr/>
        <a:lstStyle/>
        <a:p>
          <a:endParaRPr lang="en-US"/>
        </a:p>
      </dgm:t>
    </dgm:pt>
    <dgm:pt modelId="{BCBB6A0E-B050-4D87-B04C-7CBDC1B40A8F}">
      <dgm:prSet/>
      <dgm:spPr/>
      <dgm:t>
        <a:bodyPr/>
        <a:lstStyle/>
        <a:p>
          <a:r>
            <a:rPr lang="en-US"/>
            <a:t>Deployed a user-friendly application for chemical safety predictions.</a:t>
          </a:r>
        </a:p>
      </dgm:t>
    </dgm:pt>
    <dgm:pt modelId="{9C0B133F-5FF2-470E-B536-DD0F0567480E}" type="parTrans" cxnId="{58E50FC0-777E-4EDF-8D50-0FBF7BE4A6F6}">
      <dgm:prSet/>
      <dgm:spPr/>
      <dgm:t>
        <a:bodyPr/>
        <a:lstStyle/>
        <a:p>
          <a:endParaRPr lang="en-US"/>
        </a:p>
      </dgm:t>
    </dgm:pt>
    <dgm:pt modelId="{C00909DE-6FB3-4C21-A5CA-67BE4A54F815}" type="sibTrans" cxnId="{58E50FC0-777E-4EDF-8D50-0FBF7BE4A6F6}">
      <dgm:prSet/>
      <dgm:spPr/>
      <dgm:t>
        <a:bodyPr/>
        <a:lstStyle/>
        <a:p>
          <a:endParaRPr lang="en-US"/>
        </a:p>
      </dgm:t>
    </dgm:pt>
    <dgm:pt modelId="{BAA9D209-D15F-4998-BA6F-1252E4B2A24D}">
      <dgm:prSet/>
      <dgm:spPr/>
      <dgm:t>
        <a:bodyPr/>
        <a:lstStyle/>
        <a:p>
          <a:pPr>
            <a:defRPr b="1"/>
          </a:pPr>
          <a:r>
            <a:rPr lang="en-US" b="1"/>
            <a:t>Future Steps:</a:t>
          </a:r>
          <a:endParaRPr lang="en-US"/>
        </a:p>
      </dgm:t>
    </dgm:pt>
    <dgm:pt modelId="{5BA71349-0CF7-4A36-A968-03D6080F893A}" type="parTrans" cxnId="{9AC6FA26-45B9-459C-BCB2-CF33B673F3DB}">
      <dgm:prSet/>
      <dgm:spPr/>
      <dgm:t>
        <a:bodyPr/>
        <a:lstStyle/>
        <a:p>
          <a:endParaRPr lang="en-US"/>
        </a:p>
      </dgm:t>
    </dgm:pt>
    <dgm:pt modelId="{C3AE2BD3-580C-4E78-B1A8-8F0BBF1CCA8B}" type="sibTrans" cxnId="{9AC6FA26-45B9-459C-BCB2-CF33B673F3DB}">
      <dgm:prSet/>
      <dgm:spPr/>
      <dgm:t>
        <a:bodyPr/>
        <a:lstStyle/>
        <a:p>
          <a:endParaRPr lang="en-US"/>
        </a:p>
      </dgm:t>
    </dgm:pt>
    <dgm:pt modelId="{96E262DC-5762-44A4-A235-E4EC3B24E307}">
      <dgm:prSet/>
      <dgm:spPr/>
      <dgm:t>
        <a:bodyPr/>
        <a:lstStyle/>
        <a:p>
          <a:r>
            <a:rPr lang="en-US"/>
            <a:t>Refine models with more diverse datasets.</a:t>
          </a:r>
        </a:p>
      </dgm:t>
    </dgm:pt>
    <dgm:pt modelId="{35FF4205-601F-4497-A878-3BDCB9E953F8}" type="parTrans" cxnId="{53FB65F6-AF74-4A73-BCF9-034B309DE4CB}">
      <dgm:prSet/>
      <dgm:spPr/>
      <dgm:t>
        <a:bodyPr/>
        <a:lstStyle/>
        <a:p>
          <a:endParaRPr lang="en-US"/>
        </a:p>
      </dgm:t>
    </dgm:pt>
    <dgm:pt modelId="{D002D2B4-A65C-45C1-AF31-1F78B52459F3}" type="sibTrans" cxnId="{53FB65F6-AF74-4A73-BCF9-034B309DE4CB}">
      <dgm:prSet/>
      <dgm:spPr/>
      <dgm:t>
        <a:bodyPr/>
        <a:lstStyle/>
        <a:p>
          <a:endParaRPr lang="en-US"/>
        </a:p>
      </dgm:t>
    </dgm:pt>
    <dgm:pt modelId="{F28557B2-33AA-4B82-98B2-D19E962B0632}">
      <dgm:prSet/>
      <dgm:spPr/>
      <dgm:t>
        <a:bodyPr/>
        <a:lstStyle/>
        <a:p>
          <a:r>
            <a:rPr lang="en-US"/>
            <a:t>Deploy cloud-based services (e.g., AWS SageMaker) for broader accessibility.</a:t>
          </a:r>
        </a:p>
      </dgm:t>
    </dgm:pt>
    <dgm:pt modelId="{5324C4E4-8E38-41E1-BDB4-B3AE400A38ED}" type="parTrans" cxnId="{644E6D71-A8F0-46F3-A409-792F8761CDEE}">
      <dgm:prSet/>
      <dgm:spPr/>
      <dgm:t>
        <a:bodyPr/>
        <a:lstStyle/>
        <a:p>
          <a:endParaRPr lang="en-US"/>
        </a:p>
      </dgm:t>
    </dgm:pt>
    <dgm:pt modelId="{0325686F-DC56-4A0D-865E-8880172F3B66}" type="sibTrans" cxnId="{644E6D71-A8F0-46F3-A409-792F8761CDEE}">
      <dgm:prSet/>
      <dgm:spPr/>
      <dgm:t>
        <a:bodyPr/>
        <a:lstStyle/>
        <a:p>
          <a:endParaRPr lang="en-US"/>
        </a:p>
      </dgm:t>
    </dgm:pt>
    <dgm:pt modelId="{96D9CED2-A81A-4CAD-B1E0-737B599E7FA7}">
      <dgm:prSet/>
      <dgm:spPr/>
      <dgm:t>
        <a:bodyPr/>
        <a:lstStyle/>
        <a:p>
          <a:r>
            <a:rPr lang="en-US"/>
            <a:t>Integrate additional features for enhanced toxicity prediction.</a:t>
          </a:r>
        </a:p>
      </dgm:t>
    </dgm:pt>
    <dgm:pt modelId="{7469CB60-8B3B-4836-B874-7BE085E2D0EB}" type="parTrans" cxnId="{28216481-A4A2-44EE-9BA8-0E56229522CD}">
      <dgm:prSet/>
      <dgm:spPr/>
      <dgm:t>
        <a:bodyPr/>
        <a:lstStyle/>
        <a:p>
          <a:endParaRPr lang="en-US"/>
        </a:p>
      </dgm:t>
    </dgm:pt>
    <dgm:pt modelId="{16E2C75A-744A-4815-981A-F4FF5E1CC282}" type="sibTrans" cxnId="{28216481-A4A2-44EE-9BA8-0E56229522CD}">
      <dgm:prSet/>
      <dgm:spPr/>
      <dgm:t>
        <a:bodyPr/>
        <a:lstStyle/>
        <a:p>
          <a:endParaRPr lang="en-US"/>
        </a:p>
      </dgm:t>
    </dgm:pt>
    <dgm:pt modelId="{2F22F927-4934-4210-AB0F-AE9F3E3549C8}" type="pres">
      <dgm:prSet presAssocID="{6762F899-57D5-4661-B8D7-FACDBA8A16B5}" presName="root" presStyleCnt="0">
        <dgm:presLayoutVars>
          <dgm:dir/>
          <dgm:resizeHandles val="exact"/>
        </dgm:presLayoutVars>
      </dgm:prSet>
      <dgm:spPr/>
    </dgm:pt>
    <dgm:pt modelId="{D6ECE857-60C7-4105-B059-3AFA1868D528}" type="pres">
      <dgm:prSet presAssocID="{F03D6537-6D89-4D26-87B8-A4D8BDF3D590}" presName="compNode" presStyleCnt="0"/>
      <dgm:spPr/>
    </dgm:pt>
    <dgm:pt modelId="{8C8FE7F1-8B04-4DB9-8BFF-63C48465D65E}" type="pres">
      <dgm:prSet presAssocID="{F03D6537-6D89-4D26-87B8-A4D8BDF3D59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D7ADD54A-E524-41B3-96F0-39FE0A5E301C}" type="pres">
      <dgm:prSet presAssocID="{F03D6537-6D89-4D26-87B8-A4D8BDF3D590}" presName="iconSpace" presStyleCnt="0"/>
      <dgm:spPr/>
    </dgm:pt>
    <dgm:pt modelId="{81894942-AC8C-4AA7-85F7-137C9A520684}" type="pres">
      <dgm:prSet presAssocID="{F03D6537-6D89-4D26-87B8-A4D8BDF3D590}" presName="parTx" presStyleLbl="revTx" presStyleIdx="0" presStyleCnt="4">
        <dgm:presLayoutVars>
          <dgm:chMax val="0"/>
          <dgm:chPref val="0"/>
        </dgm:presLayoutVars>
      </dgm:prSet>
      <dgm:spPr/>
    </dgm:pt>
    <dgm:pt modelId="{1B678FC3-466B-4DDF-A068-DF0541B742D6}" type="pres">
      <dgm:prSet presAssocID="{F03D6537-6D89-4D26-87B8-A4D8BDF3D590}" presName="txSpace" presStyleCnt="0"/>
      <dgm:spPr/>
    </dgm:pt>
    <dgm:pt modelId="{C345A638-BBC2-4B2F-9B64-A88CC87F6153}" type="pres">
      <dgm:prSet presAssocID="{F03D6537-6D89-4D26-87B8-A4D8BDF3D590}" presName="desTx" presStyleLbl="revTx" presStyleIdx="1" presStyleCnt="4">
        <dgm:presLayoutVars/>
      </dgm:prSet>
      <dgm:spPr/>
    </dgm:pt>
    <dgm:pt modelId="{C3587E4F-4BE4-4427-8E3C-96276E9404BA}" type="pres">
      <dgm:prSet presAssocID="{57A605B0-CCA8-4CED-835C-10AB99184EEF}" presName="sibTrans" presStyleCnt="0"/>
      <dgm:spPr/>
    </dgm:pt>
    <dgm:pt modelId="{7DFB5621-D7C1-4E6C-9C39-210F27660C96}" type="pres">
      <dgm:prSet presAssocID="{BAA9D209-D15F-4998-BA6F-1252E4B2A24D}" presName="compNode" presStyleCnt="0"/>
      <dgm:spPr/>
    </dgm:pt>
    <dgm:pt modelId="{F7931DC1-6913-49EC-80A9-6321489A0337}" type="pres">
      <dgm:prSet presAssocID="{BAA9D209-D15F-4998-BA6F-1252E4B2A24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6C19E38C-16A9-40E0-B787-39147F15881F}" type="pres">
      <dgm:prSet presAssocID="{BAA9D209-D15F-4998-BA6F-1252E4B2A24D}" presName="iconSpace" presStyleCnt="0"/>
      <dgm:spPr/>
    </dgm:pt>
    <dgm:pt modelId="{20ED2A53-F9FF-4F0F-8301-1F9416CD029C}" type="pres">
      <dgm:prSet presAssocID="{BAA9D209-D15F-4998-BA6F-1252E4B2A24D}" presName="parTx" presStyleLbl="revTx" presStyleIdx="2" presStyleCnt="4">
        <dgm:presLayoutVars>
          <dgm:chMax val="0"/>
          <dgm:chPref val="0"/>
        </dgm:presLayoutVars>
      </dgm:prSet>
      <dgm:spPr/>
    </dgm:pt>
    <dgm:pt modelId="{3F0A361F-D1CB-4257-B9F9-4928B31957D1}" type="pres">
      <dgm:prSet presAssocID="{BAA9D209-D15F-4998-BA6F-1252E4B2A24D}" presName="txSpace" presStyleCnt="0"/>
      <dgm:spPr/>
    </dgm:pt>
    <dgm:pt modelId="{0D0B6121-922F-4441-89E8-BEFD1A9F73BC}" type="pres">
      <dgm:prSet presAssocID="{BAA9D209-D15F-4998-BA6F-1252E4B2A24D}" presName="desTx" presStyleLbl="revTx" presStyleIdx="3" presStyleCnt="4">
        <dgm:presLayoutVars/>
      </dgm:prSet>
      <dgm:spPr/>
    </dgm:pt>
  </dgm:ptLst>
  <dgm:cxnLst>
    <dgm:cxn modelId="{2E6F000E-6B6F-4461-8216-C55DAEC6E3FE}" srcId="{F03D6537-6D89-4D26-87B8-A4D8BDF3D590}" destId="{11E89AE3-ADE9-4825-BD6E-EB697C514617}" srcOrd="1" destOrd="0" parTransId="{F071F582-F377-41BF-AC0A-1493F661F59D}" sibTransId="{B6A67579-5EDD-4F16-A091-8E9B7E2ECF05}"/>
    <dgm:cxn modelId="{78E4DF0F-54B8-4540-88A0-606AB4E31DAC}" type="presOf" srcId="{BAA9D209-D15F-4998-BA6F-1252E4B2A24D}" destId="{20ED2A53-F9FF-4F0F-8301-1F9416CD029C}" srcOrd="0" destOrd="0" presId="urn:microsoft.com/office/officeart/2018/5/layout/CenteredIconLabelDescriptionList"/>
    <dgm:cxn modelId="{D5541817-30E3-4F5A-9185-69E4354667FF}" type="presOf" srcId="{96E262DC-5762-44A4-A235-E4EC3B24E307}" destId="{0D0B6121-922F-4441-89E8-BEFD1A9F73BC}" srcOrd="0" destOrd="0" presId="urn:microsoft.com/office/officeart/2018/5/layout/CenteredIconLabelDescriptionList"/>
    <dgm:cxn modelId="{9AC6FA26-45B9-459C-BCB2-CF33B673F3DB}" srcId="{6762F899-57D5-4661-B8D7-FACDBA8A16B5}" destId="{BAA9D209-D15F-4998-BA6F-1252E4B2A24D}" srcOrd="1" destOrd="0" parTransId="{5BA71349-0CF7-4A36-A968-03D6080F893A}" sibTransId="{C3AE2BD3-580C-4E78-B1A8-8F0BBF1CCA8B}"/>
    <dgm:cxn modelId="{75CE2B27-C157-44FC-BC4D-2948755D4A08}" srcId="{F03D6537-6D89-4D26-87B8-A4D8BDF3D590}" destId="{688B55FF-156B-44A1-8E4A-D3E73B86698A}" srcOrd="0" destOrd="0" parTransId="{0ADB0A67-7B57-4014-B05E-095131DDC623}" sibTransId="{7A572D04-CE77-4EEA-823E-465FA25E2B14}"/>
    <dgm:cxn modelId="{9B49865B-DC32-4CCC-A943-08C6E1856BD2}" srcId="{6762F899-57D5-4661-B8D7-FACDBA8A16B5}" destId="{F03D6537-6D89-4D26-87B8-A4D8BDF3D590}" srcOrd="0" destOrd="0" parTransId="{F4CA1A9A-247F-401F-9E70-61CA4DC9A74C}" sibTransId="{57A605B0-CCA8-4CED-835C-10AB99184EEF}"/>
    <dgm:cxn modelId="{064E1065-74EF-4883-BE8E-047F67B341D6}" type="presOf" srcId="{F03D6537-6D89-4D26-87B8-A4D8BDF3D590}" destId="{81894942-AC8C-4AA7-85F7-137C9A520684}" srcOrd="0" destOrd="0" presId="urn:microsoft.com/office/officeart/2018/5/layout/CenteredIconLabelDescriptionList"/>
    <dgm:cxn modelId="{CD508770-BC08-47BD-8000-4638F264E6AF}" type="presOf" srcId="{688B55FF-156B-44A1-8E4A-D3E73B86698A}" destId="{C345A638-BBC2-4B2F-9B64-A88CC87F6153}" srcOrd="0" destOrd="0" presId="urn:microsoft.com/office/officeart/2018/5/layout/CenteredIconLabelDescriptionList"/>
    <dgm:cxn modelId="{644E6D71-A8F0-46F3-A409-792F8761CDEE}" srcId="{BAA9D209-D15F-4998-BA6F-1252E4B2A24D}" destId="{F28557B2-33AA-4B82-98B2-D19E962B0632}" srcOrd="1" destOrd="0" parTransId="{5324C4E4-8E38-41E1-BDB4-B3AE400A38ED}" sibTransId="{0325686F-DC56-4A0D-865E-8880172F3B66}"/>
    <dgm:cxn modelId="{28216481-A4A2-44EE-9BA8-0E56229522CD}" srcId="{BAA9D209-D15F-4998-BA6F-1252E4B2A24D}" destId="{96D9CED2-A81A-4CAD-B1E0-737B599E7FA7}" srcOrd="2" destOrd="0" parTransId="{7469CB60-8B3B-4836-B874-7BE085E2D0EB}" sibTransId="{16E2C75A-744A-4815-981A-F4FF5E1CC282}"/>
    <dgm:cxn modelId="{CEF12FA1-9131-402E-862A-83BFF62889BB}" type="presOf" srcId="{BCBB6A0E-B050-4D87-B04C-7CBDC1B40A8F}" destId="{C345A638-BBC2-4B2F-9B64-A88CC87F6153}" srcOrd="0" destOrd="2" presId="urn:microsoft.com/office/officeart/2018/5/layout/CenteredIconLabelDescriptionList"/>
    <dgm:cxn modelId="{B2E2F6B8-E222-489F-B587-FACB2E34369D}" type="presOf" srcId="{6762F899-57D5-4661-B8D7-FACDBA8A16B5}" destId="{2F22F927-4934-4210-AB0F-AE9F3E3549C8}" srcOrd="0" destOrd="0" presId="urn:microsoft.com/office/officeart/2018/5/layout/CenteredIconLabelDescriptionList"/>
    <dgm:cxn modelId="{58E50FC0-777E-4EDF-8D50-0FBF7BE4A6F6}" srcId="{F03D6537-6D89-4D26-87B8-A4D8BDF3D590}" destId="{BCBB6A0E-B050-4D87-B04C-7CBDC1B40A8F}" srcOrd="2" destOrd="0" parTransId="{9C0B133F-5FF2-470E-B536-DD0F0567480E}" sibTransId="{C00909DE-6FB3-4C21-A5CA-67BE4A54F815}"/>
    <dgm:cxn modelId="{0EB21AD3-1FCA-415D-8FFD-C0B9C8BF2598}" type="presOf" srcId="{11E89AE3-ADE9-4825-BD6E-EB697C514617}" destId="{C345A638-BBC2-4B2F-9B64-A88CC87F6153}" srcOrd="0" destOrd="1" presId="urn:microsoft.com/office/officeart/2018/5/layout/CenteredIconLabelDescriptionList"/>
    <dgm:cxn modelId="{53FB65F6-AF74-4A73-BCF9-034B309DE4CB}" srcId="{BAA9D209-D15F-4998-BA6F-1252E4B2A24D}" destId="{96E262DC-5762-44A4-A235-E4EC3B24E307}" srcOrd="0" destOrd="0" parTransId="{35FF4205-601F-4497-A878-3BDCB9E953F8}" sibTransId="{D002D2B4-A65C-45C1-AF31-1F78B52459F3}"/>
    <dgm:cxn modelId="{FE82E4F8-F5E4-479D-8E47-19430E7835D1}" type="presOf" srcId="{F28557B2-33AA-4B82-98B2-D19E962B0632}" destId="{0D0B6121-922F-4441-89E8-BEFD1A9F73BC}" srcOrd="0" destOrd="1" presId="urn:microsoft.com/office/officeart/2018/5/layout/CenteredIconLabelDescriptionList"/>
    <dgm:cxn modelId="{EE2B00FB-1AE3-41AE-9A5A-1A19E0E8B706}" type="presOf" srcId="{96D9CED2-A81A-4CAD-B1E0-737B599E7FA7}" destId="{0D0B6121-922F-4441-89E8-BEFD1A9F73BC}" srcOrd="0" destOrd="2" presId="urn:microsoft.com/office/officeart/2018/5/layout/CenteredIconLabelDescriptionList"/>
    <dgm:cxn modelId="{65A6B643-7183-42D8-9AA2-098CA30EF086}" type="presParOf" srcId="{2F22F927-4934-4210-AB0F-AE9F3E3549C8}" destId="{D6ECE857-60C7-4105-B059-3AFA1868D528}" srcOrd="0" destOrd="0" presId="urn:microsoft.com/office/officeart/2018/5/layout/CenteredIconLabelDescriptionList"/>
    <dgm:cxn modelId="{33267D8F-1ED5-45B3-8BDD-67BB1B9AD637}" type="presParOf" srcId="{D6ECE857-60C7-4105-B059-3AFA1868D528}" destId="{8C8FE7F1-8B04-4DB9-8BFF-63C48465D65E}" srcOrd="0" destOrd="0" presId="urn:microsoft.com/office/officeart/2018/5/layout/CenteredIconLabelDescriptionList"/>
    <dgm:cxn modelId="{5080097A-B97A-46F3-8C4C-97F35562732A}" type="presParOf" srcId="{D6ECE857-60C7-4105-B059-3AFA1868D528}" destId="{D7ADD54A-E524-41B3-96F0-39FE0A5E301C}" srcOrd="1" destOrd="0" presId="urn:microsoft.com/office/officeart/2018/5/layout/CenteredIconLabelDescriptionList"/>
    <dgm:cxn modelId="{92300F11-4A33-4B78-BF29-DAA5E0877E26}" type="presParOf" srcId="{D6ECE857-60C7-4105-B059-3AFA1868D528}" destId="{81894942-AC8C-4AA7-85F7-137C9A520684}" srcOrd="2" destOrd="0" presId="urn:microsoft.com/office/officeart/2018/5/layout/CenteredIconLabelDescriptionList"/>
    <dgm:cxn modelId="{DF00EA58-D957-42BF-AF37-4EDBCAA71E68}" type="presParOf" srcId="{D6ECE857-60C7-4105-B059-3AFA1868D528}" destId="{1B678FC3-466B-4DDF-A068-DF0541B742D6}" srcOrd="3" destOrd="0" presId="urn:microsoft.com/office/officeart/2018/5/layout/CenteredIconLabelDescriptionList"/>
    <dgm:cxn modelId="{E4D6BB47-1DD5-4CD9-B9A3-FA6D8861EF0C}" type="presParOf" srcId="{D6ECE857-60C7-4105-B059-3AFA1868D528}" destId="{C345A638-BBC2-4B2F-9B64-A88CC87F6153}" srcOrd="4" destOrd="0" presId="urn:microsoft.com/office/officeart/2018/5/layout/CenteredIconLabelDescriptionList"/>
    <dgm:cxn modelId="{B14C9E5C-0CAF-40B7-9DF6-96DD831711E2}" type="presParOf" srcId="{2F22F927-4934-4210-AB0F-AE9F3E3549C8}" destId="{C3587E4F-4BE4-4427-8E3C-96276E9404BA}" srcOrd="1" destOrd="0" presId="urn:microsoft.com/office/officeart/2018/5/layout/CenteredIconLabelDescriptionList"/>
    <dgm:cxn modelId="{848CD6DA-6F24-4C65-99E9-A504B22C823C}" type="presParOf" srcId="{2F22F927-4934-4210-AB0F-AE9F3E3549C8}" destId="{7DFB5621-D7C1-4E6C-9C39-210F27660C96}" srcOrd="2" destOrd="0" presId="urn:microsoft.com/office/officeart/2018/5/layout/CenteredIconLabelDescriptionList"/>
    <dgm:cxn modelId="{FF09C84C-D117-4948-9B9C-BC52615929EE}" type="presParOf" srcId="{7DFB5621-D7C1-4E6C-9C39-210F27660C96}" destId="{F7931DC1-6913-49EC-80A9-6321489A0337}" srcOrd="0" destOrd="0" presId="urn:microsoft.com/office/officeart/2018/5/layout/CenteredIconLabelDescriptionList"/>
    <dgm:cxn modelId="{8EBE6C37-E2CD-4E02-8221-589990F36596}" type="presParOf" srcId="{7DFB5621-D7C1-4E6C-9C39-210F27660C96}" destId="{6C19E38C-16A9-40E0-B787-39147F15881F}" srcOrd="1" destOrd="0" presId="urn:microsoft.com/office/officeart/2018/5/layout/CenteredIconLabelDescriptionList"/>
    <dgm:cxn modelId="{70CB56BD-BC55-4C7F-9DC7-2679F214EEF1}" type="presParOf" srcId="{7DFB5621-D7C1-4E6C-9C39-210F27660C96}" destId="{20ED2A53-F9FF-4F0F-8301-1F9416CD029C}" srcOrd="2" destOrd="0" presId="urn:microsoft.com/office/officeart/2018/5/layout/CenteredIconLabelDescriptionList"/>
    <dgm:cxn modelId="{A7B1E1DA-EB07-440F-B436-87D0535A324F}" type="presParOf" srcId="{7DFB5621-D7C1-4E6C-9C39-210F27660C96}" destId="{3F0A361F-D1CB-4257-B9F9-4928B31957D1}" srcOrd="3" destOrd="0" presId="urn:microsoft.com/office/officeart/2018/5/layout/CenteredIconLabelDescriptionList"/>
    <dgm:cxn modelId="{5E2390AC-77FE-4BD6-BD0F-BB87D1E8ADF8}" type="presParOf" srcId="{7DFB5621-D7C1-4E6C-9C39-210F27660C96}" destId="{0D0B6121-922F-4441-89E8-BEFD1A9F73BC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C90A0A3-9449-4738-9C81-9F06EF8BEDDC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C8F6C8A8-F72F-4B31-9FFE-8A3D4DFB676E}">
      <dgm:prSet/>
      <dgm:spPr/>
      <dgm:t>
        <a:bodyPr/>
        <a:lstStyle/>
        <a:p>
          <a:pPr>
            <a:defRPr b="1"/>
          </a:pPr>
          <a:r>
            <a:rPr lang="en-US" b="1" i="0" baseline="0"/>
            <a:t>Why It Matters:</a:t>
          </a:r>
          <a:endParaRPr lang="en-US"/>
        </a:p>
      </dgm:t>
    </dgm:pt>
    <dgm:pt modelId="{78BA6FBF-9B64-423C-8E06-01694D05F4B7}" type="parTrans" cxnId="{1CC37C82-8771-4D54-92FF-258793038754}">
      <dgm:prSet/>
      <dgm:spPr/>
      <dgm:t>
        <a:bodyPr/>
        <a:lstStyle/>
        <a:p>
          <a:endParaRPr lang="en-US"/>
        </a:p>
      </dgm:t>
    </dgm:pt>
    <dgm:pt modelId="{DDEAC60B-75A9-4EF2-996C-EDAE82EF0F15}" type="sibTrans" cxnId="{1CC37C82-8771-4D54-92FF-258793038754}">
      <dgm:prSet/>
      <dgm:spPr/>
      <dgm:t>
        <a:bodyPr/>
        <a:lstStyle/>
        <a:p>
          <a:endParaRPr lang="en-US"/>
        </a:p>
      </dgm:t>
    </dgm:pt>
    <dgm:pt modelId="{E61361E5-C25D-449B-8770-53EA376AF993}">
      <dgm:prSet/>
      <dgm:spPr/>
      <dgm:t>
        <a:bodyPr/>
        <a:lstStyle/>
        <a:p>
          <a:r>
            <a:rPr lang="en-US" b="0" i="0" baseline="0"/>
            <a:t>Reduces costs and time in drug development.</a:t>
          </a:r>
          <a:endParaRPr lang="en-US"/>
        </a:p>
      </dgm:t>
    </dgm:pt>
    <dgm:pt modelId="{BA76511F-BD3B-42D0-8E7B-01BFC30E6B56}" type="parTrans" cxnId="{203F6378-2B6D-47FE-82B7-1DA0B098D879}">
      <dgm:prSet/>
      <dgm:spPr/>
      <dgm:t>
        <a:bodyPr/>
        <a:lstStyle/>
        <a:p>
          <a:endParaRPr lang="en-US"/>
        </a:p>
      </dgm:t>
    </dgm:pt>
    <dgm:pt modelId="{187AF5BF-64DB-4524-9232-74594CFECAFF}" type="sibTrans" cxnId="{203F6378-2B6D-47FE-82B7-1DA0B098D879}">
      <dgm:prSet/>
      <dgm:spPr/>
      <dgm:t>
        <a:bodyPr/>
        <a:lstStyle/>
        <a:p>
          <a:endParaRPr lang="en-US"/>
        </a:p>
      </dgm:t>
    </dgm:pt>
    <dgm:pt modelId="{BABFCB6F-FA3E-47DE-A7F6-DF2F01843A6A}">
      <dgm:prSet/>
      <dgm:spPr/>
      <dgm:t>
        <a:bodyPr/>
        <a:lstStyle/>
        <a:p>
          <a:r>
            <a:rPr lang="en-US" b="0" i="0" baseline="0"/>
            <a:t>Enhances chemical safety for human health and the environment.</a:t>
          </a:r>
          <a:endParaRPr lang="en-US"/>
        </a:p>
      </dgm:t>
    </dgm:pt>
    <dgm:pt modelId="{564AF0D8-AB93-448A-B710-146B3F8AB7CF}" type="parTrans" cxnId="{00B59A5A-D05F-4AE7-99DC-DCB97023A157}">
      <dgm:prSet/>
      <dgm:spPr/>
      <dgm:t>
        <a:bodyPr/>
        <a:lstStyle/>
        <a:p>
          <a:endParaRPr lang="en-US"/>
        </a:p>
      </dgm:t>
    </dgm:pt>
    <dgm:pt modelId="{BE69187A-0573-4D13-9B3C-76AE20A5366C}" type="sibTrans" cxnId="{00B59A5A-D05F-4AE7-99DC-DCB97023A157}">
      <dgm:prSet/>
      <dgm:spPr/>
      <dgm:t>
        <a:bodyPr/>
        <a:lstStyle/>
        <a:p>
          <a:endParaRPr lang="en-US"/>
        </a:p>
      </dgm:t>
    </dgm:pt>
    <dgm:pt modelId="{1B1C5FF1-5771-4882-98C2-3F87D68C75EC}">
      <dgm:prSet/>
      <dgm:spPr/>
      <dgm:t>
        <a:bodyPr/>
        <a:lstStyle/>
        <a:p>
          <a:pPr>
            <a:defRPr b="1"/>
          </a:pPr>
          <a:r>
            <a:rPr lang="en-US" b="1" i="0" baseline="0"/>
            <a:t>Your Role:</a:t>
          </a:r>
          <a:endParaRPr lang="en-US"/>
        </a:p>
      </dgm:t>
    </dgm:pt>
    <dgm:pt modelId="{5D2A7B02-FC3D-4945-B37B-C68A89192D2A}" type="parTrans" cxnId="{7DD633E5-A0FC-4930-AFA5-0352DE687A2B}">
      <dgm:prSet/>
      <dgm:spPr/>
      <dgm:t>
        <a:bodyPr/>
        <a:lstStyle/>
        <a:p>
          <a:endParaRPr lang="en-US"/>
        </a:p>
      </dgm:t>
    </dgm:pt>
    <dgm:pt modelId="{2914B4B0-643B-44F9-A06F-3DEEC0C0A012}" type="sibTrans" cxnId="{7DD633E5-A0FC-4930-AFA5-0352DE687A2B}">
      <dgm:prSet/>
      <dgm:spPr/>
      <dgm:t>
        <a:bodyPr/>
        <a:lstStyle/>
        <a:p>
          <a:endParaRPr lang="en-US"/>
        </a:p>
      </dgm:t>
    </dgm:pt>
    <dgm:pt modelId="{8237FDAC-BB8E-41D5-B5B8-53FDA693A6FE}">
      <dgm:prSet/>
      <dgm:spPr/>
      <dgm:t>
        <a:bodyPr/>
        <a:lstStyle/>
        <a:p>
          <a:r>
            <a:rPr lang="en-US" b="0" i="0" baseline="0"/>
            <a:t>Collaborated on model building, data analysis, and deployment.</a:t>
          </a:r>
          <a:endParaRPr lang="en-US"/>
        </a:p>
      </dgm:t>
    </dgm:pt>
    <dgm:pt modelId="{9977FD7C-710C-4E72-9672-278B77ADB9E0}" type="parTrans" cxnId="{68097829-2FF0-4B66-8BAC-B57FC9132454}">
      <dgm:prSet/>
      <dgm:spPr/>
      <dgm:t>
        <a:bodyPr/>
        <a:lstStyle/>
        <a:p>
          <a:endParaRPr lang="en-US"/>
        </a:p>
      </dgm:t>
    </dgm:pt>
    <dgm:pt modelId="{E098E4D5-3F54-4277-BE26-E7651C808A04}" type="sibTrans" cxnId="{68097829-2FF0-4B66-8BAC-B57FC9132454}">
      <dgm:prSet/>
      <dgm:spPr/>
      <dgm:t>
        <a:bodyPr/>
        <a:lstStyle/>
        <a:p>
          <a:endParaRPr lang="en-US"/>
        </a:p>
      </dgm:t>
    </dgm:pt>
    <dgm:pt modelId="{F0973F49-2312-4D7E-ACDA-5B619CA52C73}">
      <dgm:prSet/>
      <dgm:spPr/>
      <dgm:t>
        <a:bodyPr/>
        <a:lstStyle/>
        <a:p>
          <a:r>
            <a:rPr lang="en-US" b="0" i="0" baseline="0"/>
            <a:t>Applied cutting-edge AI techniques to address a real-world challenge.</a:t>
          </a:r>
          <a:endParaRPr lang="en-US"/>
        </a:p>
      </dgm:t>
    </dgm:pt>
    <dgm:pt modelId="{E95FEE9C-455D-43C7-96E9-2D2D78281B87}" type="parTrans" cxnId="{9C19F356-10E1-4316-B539-117AEA2F5279}">
      <dgm:prSet/>
      <dgm:spPr/>
      <dgm:t>
        <a:bodyPr/>
        <a:lstStyle/>
        <a:p>
          <a:endParaRPr lang="en-US"/>
        </a:p>
      </dgm:t>
    </dgm:pt>
    <dgm:pt modelId="{EF75EB37-C54A-4DC9-8DBF-CBAB73229E03}" type="sibTrans" cxnId="{9C19F356-10E1-4316-B539-117AEA2F5279}">
      <dgm:prSet/>
      <dgm:spPr/>
      <dgm:t>
        <a:bodyPr/>
        <a:lstStyle/>
        <a:p>
          <a:endParaRPr lang="en-US"/>
        </a:p>
      </dgm:t>
    </dgm:pt>
    <dgm:pt modelId="{1AB2BEEE-3990-4ED8-8E27-FEB8EAB6D6BA}" type="pres">
      <dgm:prSet presAssocID="{8C90A0A3-9449-4738-9C81-9F06EF8BEDDC}" presName="root" presStyleCnt="0">
        <dgm:presLayoutVars>
          <dgm:dir/>
          <dgm:resizeHandles val="exact"/>
        </dgm:presLayoutVars>
      </dgm:prSet>
      <dgm:spPr/>
    </dgm:pt>
    <dgm:pt modelId="{83020429-F5CE-47D4-A8A3-0E1C9B80AEDB}" type="pres">
      <dgm:prSet presAssocID="{C8F6C8A8-F72F-4B31-9FFE-8A3D4DFB676E}" presName="compNode" presStyleCnt="0"/>
      <dgm:spPr/>
    </dgm:pt>
    <dgm:pt modelId="{05566B90-1E53-4C2D-9FE1-4DA7ADE69E14}" type="pres">
      <dgm:prSet presAssocID="{C8F6C8A8-F72F-4B31-9FFE-8A3D4DFB676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dicine"/>
        </a:ext>
      </dgm:extLst>
    </dgm:pt>
    <dgm:pt modelId="{1A9CA8DD-9F70-4F5B-B67C-71B3E31EBC78}" type="pres">
      <dgm:prSet presAssocID="{C8F6C8A8-F72F-4B31-9FFE-8A3D4DFB676E}" presName="iconSpace" presStyleCnt="0"/>
      <dgm:spPr/>
    </dgm:pt>
    <dgm:pt modelId="{9266D1F6-E381-46BE-AE0F-EBC7133F90FB}" type="pres">
      <dgm:prSet presAssocID="{C8F6C8A8-F72F-4B31-9FFE-8A3D4DFB676E}" presName="parTx" presStyleLbl="revTx" presStyleIdx="0" presStyleCnt="4">
        <dgm:presLayoutVars>
          <dgm:chMax val="0"/>
          <dgm:chPref val="0"/>
        </dgm:presLayoutVars>
      </dgm:prSet>
      <dgm:spPr/>
    </dgm:pt>
    <dgm:pt modelId="{FCD32ED7-A079-479F-A5D0-32AB240E28CF}" type="pres">
      <dgm:prSet presAssocID="{C8F6C8A8-F72F-4B31-9FFE-8A3D4DFB676E}" presName="txSpace" presStyleCnt="0"/>
      <dgm:spPr/>
    </dgm:pt>
    <dgm:pt modelId="{DB11DF86-864F-421F-AB00-E071490F7DFC}" type="pres">
      <dgm:prSet presAssocID="{C8F6C8A8-F72F-4B31-9FFE-8A3D4DFB676E}" presName="desTx" presStyleLbl="revTx" presStyleIdx="1" presStyleCnt="4">
        <dgm:presLayoutVars/>
      </dgm:prSet>
      <dgm:spPr/>
    </dgm:pt>
    <dgm:pt modelId="{88BA5E53-65FD-44F9-BE9F-8B9D5642CE1D}" type="pres">
      <dgm:prSet presAssocID="{DDEAC60B-75A9-4EF2-996C-EDAE82EF0F15}" presName="sibTrans" presStyleCnt="0"/>
      <dgm:spPr/>
    </dgm:pt>
    <dgm:pt modelId="{AED41EC2-8CEE-464C-A2AA-5D835EDC0FDE}" type="pres">
      <dgm:prSet presAssocID="{1B1C5FF1-5771-4882-98C2-3F87D68C75EC}" presName="compNode" presStyleCnt="0"/>
      <dgm:spPr/>
    </dgm:pt>
    <dgm:pt modelId="{477A253A-92FC-416B-8895-FC0D9ACE8EBB}" type="pres">
      <dgm:prSet presAssocID="{1B1C5FF1-5771-4882-98C2-3F87D68C75E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F57FC327-0DFA-4809-BA0A-B1B5B3436F50}" type="pres">
      <dgm:prSet presAssocID="{1B1C5FF1-5771-4882-98C2-3F87D68C75EC}" presName="iconSpace" presStyleCnt="0"/>
      <dgm:spPr/>
    </dgm:pt>
    <dgm:pt modelId="{173EC40F-410F-43BF-A665-4F4179EFEE93}" type="pres">
      <dgm:prSet presAssocID="{1B1C5FF1-5771-4882-98C2-3F87D68C75EC}" presName="parTx" presStyleLbl="revTx" presStyleIdx="2" presStyleCnt="4">
        <dgm:presLayoutVars>
          <dgm:chMax val="0"/>
          <dgm:chPref val="0"/>
        </dgm:presLayoutVars>
      </dgm:prSet>
      <dgm:spPr/>
    </dgm:pt>
    <dgm:pt modelId="{69422EB2-A4AC-41A0-9D77-70FA7943B491}" type="pres">
      <dgm:prSet presAssocID="{1B1C5FF1-5771-4882-98C2-3F87D68C75EC}" presName="txSpace" presStyleCnt="0"/>
      <dgm:spPr/>
    </dgm:pt>
    <dgm:pt modelId="{EF9150D4-6F61-4B9F-998D-B07EC037B9C8}" type="pres">
      <dgm:prSet presAssocID="{1B1C5FF1-5771-4882-98C2-3F87D68C75EC}" presName="desTx" presStyleLbl="revTx" presStyleIdx="3" presStyleCnt="4">
        <dgm:presLayoutVars/>
      </dgm:prSet>
      <dgm:spPr/>
    </dgm:pt>
  </dgm:ptLst>
  <dgm:cxnLst>
    <dgm:cxn modelId="{68097829-2FF0-4B66-8BAC-B57FC9132454}" srcId="{1B1C5FF1-5771-4882-98C2-3F87D68C75EC}" destId="{8237FDAC-BB8E-41D5-B5B8-53FDA693A6FE}" srcOrd="0" destOrd="0" parTransId="{9977FD7C-710C-4E72-9672-278B77ADB9E0}" sibTransId="{E098E4D5-3F54-4277-BE26-E7651C808A04}"/>
    <dgm:cxn modelId="{5E019C2D-55F5-4432-A5CA-76BDD051FCB3}" type="presOf" srcId="{8237FDAC-BB8E-41D5-B5B8-53FDA693A6FE}" destId="{EF9150D4-6F61-4B9F-998D-B07EC037B9C8}" srcOrd="0" destOrd="0" presId="urn:microsoft.com/office/officeart/2018/5/layout/CenteredIconLabelDescriptionList"/>
    <dgm:cxn modelId="{F8E9346D-A186-4D33-A34F-8E2F42FDA6CA}" type="presOf" srcId="{1B1C5FF1-5771-4882-98C2-3F87D68C75EC}" destId="{173EC40F-410F-43BF-A665-4F4179EFEE93}" srcOrd="0" destOrd="0" presId="urn:microsoft.com/office/officeart/2018/5/layout/CenteredIconLabelDescriptionList"/>
    <dgm:cxn modelId="{134C1151-50C9-4329-95A3-6131F21063BC}" type="presOf" srcId="{E61361E5-C25D-449B-8770-53EA376AF993}" destId="{DB11DF86-864F-421F-AB00-E071490F7DFC}" srcOrd="0" destOrd="0" presId="urn:microsoft.com/office/officeart/2018/5/layout/CenteredIconLabelDescriptionList"/>
    <dgm:cxn modelId="{9C19F356-10E1-4316-B539-117AEA2F5279}" srcId="{1B1C5FF1-5771-4882-98C2-3F87D68C75EC}" destId="{F0973F49-2312-4D7E-ACDA-5B619CA52C73}" srcOrd="1" destOrd="0" parTransId="{E95FEE9C-455D-43C7-96E9-2D2D78281B87}" sibTransId="{EF75EB37-C54A-4DC9-8DBF-CBAB73229E03}"/>
    <dgm:cxn modelId="{203F6378-2B6D-47FE-82B7-1DA0B098D879}" srcId="{C8F6C8A8-F72F-4B31-9FFE-8A3D4DFB676E}" destId="{E61361E5-C25D-449B-8770-53EA376AF993}" srcOrd="0" destOrd="0" parTransId="{BA76511F-BD3B-42D0-8E7B-01BFC30E6B56}" sibTransId="{187AF5BF-64DB-4524-9232-74594CFECAFF}"/>
    <dgm:cxn modelId="{00B59A5A-D05F-4AE7-99DC-DCB97023A157}" srcId="{C8F6C8A8-F72F-4B31-9FFE-8A3D4DFB676E}" destId="{BABFCB6F-FA3E-47DE-A7F6-DF2F01843A6A}" srcOrd="1" destOrd="0" parTransId="{564AF0D8-AB93-448A-B710-146B3F8AB7CF}" sibTransId="{BE69187A-0573-4D13-9B3C-76AE20A5366C}"/>
    <dgm:cxn modelId="{1CC37C82-8771-4D54-92FF-258793038754}" srcId="{8C90A0A3-9449-4738-9C81-9F06EF8BEDDC}" destId="{C8F6C8A8-F72F-4B31-9FFE-8A3D4DFB676E}" srcOrd="0" destOrd="0" parTransId="{78BA6FBF-9B64-423C-8E06-01694D05F4B7}" sibTransId="{DDEAC60B-75A9-4EF2-996C-EDAE82EF0F15}"/>
    <dgm:cxn modelId="{85ABC99F-C61E-4355-AEF4-C3BD9AF73F9F}" type="presOf" srcId="{F0973F49-2312-4D7E-ACDA-5B619CA52C73}" destId="{EF9150D4-6F61-4B9F-998D-B07EC037B9C8}" srcOrd="0" destOrd="1" presId="urn:microsoft.com/office/officeart/2018/5/layout/CenteredIconLabelDescriptionList"/>
    <dgm:cxn modelId="{B6F1FBB3-849D-4436-8BC0-F4A4D53F9EBA}" type="presOf" srcId="{BABFCB6F-FA3E-47DE-A7F6-DF2F01843A6A}" destId="{DB11DF86-864F-421F-AB00-E071490F7DFC}" srcOrd="0" destOrd="1" presId="urn:microsoft.com/office/officeart/2018/5/layout/CenteredIconLabelDescriptionList"/>
    <dgm:cxn modelId="{447945CC-2752-4982-BB62-BA0EC35C387A}" type="presOf" srcId="{C8F6C8A8-F72F-4B31-9FFE-8A3D4DFB676E}" destId="{9266D1F6-E381-46BE-AE0F-EBC7133F90FB}" srcOrd="0" destOrd="0" presId="urn:microsoft.com/office/officeart/2018/5/layout/CenteredIconLabelDescriptionList"/>
    <dgm:cxn modelId="{C0D069DC-788F-4B17-856C-B4F71E66F92E}" type="presOf" srcId="{8C90A0A3-9449-4738-9C81-9F06EF8BEDDC}" destId="{1AB2BEEE-3990-4ED8-8E27-FEB8EAB6D6BA}" srcOrd="0" destOrd="0" presId="urn:microsoft.com/office/officeart/2018/5/layout/CenteredIconLabelDescriptionList"/>
    <dgm:cxn modelId="{7DD633E5-A0FC-4930-AFA5-0352DE687A2B}" srcId="{8C90A0A3-9449-4738-9C81-9F06EF8BEDDC}" destId="{1B1C5FF1-5771-4882-98C2-3F87D68C75EC}" srcOrd="1" destOrd="0" parTransId="{5D2A7B02-FC3D-4945-B37B-C68A89192D2A}" sibTransId="{2914B4B0-643B-44F9-A06F-3DEEC0C0A012}"/>
    <dgm:cxn modelId="{201169B7-FB21-476D-BF79-3F3DC5815B37}" type="presParOf" srcId="{1AB2BEEE-3990-4ED8-8E27-FEB8EAB6D6BA}" destId="{83020429-F5CE-47D4-A8A3-0E1C9B80AEDB}" srcOrd="0" destOrd="0" presId="urn:microsoft.com/office/officeart/2018/5/layout/CenteredIconLabelDescriptionList"/>
    <dgm:cxn modelId="{BA4E5F49-23E0-45B4-9673-73A77C0EF830}" type="presParOf" srcId="{83020429-F5CE-47D4-A8A3-0E1C9B80AEDB}" destId="{05566B90-1E53-4C2D-9FE1-4DA7ADE69E14}" srcOrd="0" destOrd="0" presId="urn:microsoft.com/office/officeart/2018/5/layout/CenteredIconLabelDescriptionList"/>
    <dgm:cxn modelId="{CA87A255-6D48-4EC6-8C7D-2ABDDFCAC1DF}" type="presParOf" srcId="{83020429-F5CE-47D4-A8A3-0E1C9B80AEDB}" destId="{1A9CA8DD-9F70-4F5B-B67C-71B3E31EBC78}" srcOrd="1" destOrd="0" presId="urn:microsoft.com/office/officeart/2018/5/layout/CenteredIconLabelDescriptionList"/>
    <dgm:cxn modelId="{8D2D722A-A129-4CA4-851F-0F06EAA1D296}" type="presParOf" srcId="{83020429-F5CE-47D4-A8A3-0E1C9B80AEDB}" destId="{9266D1F6-E381-46BE-AE0F-EBC7133F90FB}" srcOrd="2" destOrd="0" presId="urn:microsoft.com/office/officeart/2018/5/layout/CenteredIconLabelDescriptionList"/>
    <dgm:cxn modelId="{AF0495B1-49D1-4444-AE68-828779B83DE8}" type="presParOf" srcId="{83020429-F5CE-47D4-A8A3-0E1C9B80AEDB}" destId="{FCD32ED7-A079-479F-A5D0-32AB240E28CF}" srcOrd="3" destOrd="0" presId="urn:microsoft.com/office/officeart/2018/5/layout/CenteredIconLabelDescriptionList"/>
    <dgm:cxn modelId="{AA1E54F3-4468-40A8-8179-F3B56CB3BDFD}" type="presParOf" srcId="{83020429-F5CE-47D4-A8A3-0E1C9B80AEDB}" destId="{DB11DF86-864F-421F-AB00-E071490F7DFC}" srcOrd="4" destOrd="0" presId="urn:microsoft.com/office/officeart/2018/5/layout/CenteredIconLabelDescriptionList"/>
    <dgm:cxn modelId="{92ECB411-C704-4CFF-A40A-B843081E8F8E}" type="presParOf" srcId="{1AB2BEEE-3990-4ED8-8E27-FEB8EAB6D6BA}" destId="{88BA5E53-65FD-44F9-BE9F-8B9D5642CE1D}" srcOrd="1" destOrd="0" presId="urn:microsoft.com/office/officeart/2018/5/layout/CenteredIconLabelDescriptionList"/>
    <dgm:cxn modelId="{A764A085-037F-41B0-84E7-4FA18AD7E869}" type="presParOf" srcId="{1AB2BEEE-3990-4ED8-8E27-FEB8EAB6D6BA}" destId="{AED41EC2-8CEE-464C-A2AA-5D835EDC0FDE}" srcOrd="2" destOrd="0" presId="urn:microsoft.com/office/officeart/2018/5/layout/CenteredIconLabelDescriptionList"/>
    <dgm:cxn modelId="{5568B2C3-C86C-4806-B652-A1BEDFF94FBB}" type="presParOf" srcId="{AED41EC2-8CEE-464C-A2AA-5D835EDC0FDE}" destId="{477A253A-92FC-416B-8895-FC0D9ACE8EBB}" srcOrd="0" destOrd="0" presId="urn:microsoft.com/office/officeart/2018/5/layout/CenteredIconLabelDescriptionList"/>
    <dgm:cxn modelId="{25F19362-AAF7-4E34-AC57-016B4815F0E4}" type="presParOf" srcId="{AED41EC2-8CEE-464C-A2AA-5D835EDC0FDE}" destId="{F57FC327-0DFA-4809-BA0A-B1B5B3436F50}" srcOrd="1" destOrd="0" presId="urn:microsoft.com/office/officeart/2018/5/layout/CenteredIconLabelDescriptionList"/>
    <dgm:cxn modelId="{07CB8308-F18B-419A-8682-48CF6BDFA449}" type="presParOf" srcId="{AED41EC2-8CEE-464C-A2AA-5D835EDC0FDE}" destId="{173EC40F-410F-43BF-A665-4F4179EFEE93}" srcOrd="2" destOrd="0" presId="urn:microsoft.com/office/officeart/2018/5/layout/CenteredIconLabelDescriptionList"/>
    <dgm:cxn modelId="{9B3FE6F2-7256-49C0-83C8-EDE162CFA7C9}" type="presParOf" srcId="{AED41EC2-8CEE-464C-A2AA-5D835EDC0FDE}" destId="{69422EB2-A4AC-41A0-9D77-70FA7943B491}" srcOrd="3" destOrd="0" presId="urn:microsoft.com/office/officeart/2018/5/layout/CenteredIconLabelDescriptionList"/>
    <dgm:cxn modelId="{4BB96AAE-D98C-4D75-B02E-3B08D5847AFA}" type="presParOf" srcId="{AED41EC2-8CEE-464C-A2AA-5D835EDC0FDE}" destId="{EF9150D4-6F61-4B9F-998D-B07EC037B9C8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59CF46-D33A-47CA-BD70-90E203B4B2F7}">
      <dsp:nvSpPr>
        <dsp:cNvPr id="0" name=""/>
        <dsp:cNvSpPr/>
      </dsp:nvSpPr>
      <dsp:spPr>
        <a:xfrm>
          <a:off x="1582" y="406841"/>
          <a:ext cx="1141382" cy="11413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56E76C-82F4-4037-81A6-1AB1C35167C9}">
      <dsp:nvSpPr>
        <dsp:cNvPr id="0" name=""/>
        <dsp:cNvSpPr/>
      </dsp:nvSpPr>
      <dsp:spPr>
        <a:xfrm>
          <a:off x="1582" y="1693526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200" b="1" i="0" kern="1200" baseline="0"/>
            <a:t>Strengths:</a:t>
          </a:r>
          <a:endParaRPr lang="en-US" sz="2200" kern="1200"/>
        </a:p>
      </dsp:txBody>
      <dsp:txXfrm>
        <a:off x="1582" y="1693526"/>
        <a:ext cx="3261093" cy="489164"/>
      </dsp:txXfrm>
    </dsp:sp>
    <dsp:sp modelId="{83DA69CA-B75C-43DD-9023-5FA3562E6524}">
      <dsp:nvSpPr>
        <dsp:cNvPr id="0" name=""/>
        <dsp:cNvSpPr/>
      </dsp:nvSpPr>
      <dsp:spPr>
        <a:xfrm>
          <a:off x="1582" y="2250272"/>
          <a:ext cx="3261093" cy="1535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High accuracy and scalability for binary classification.</a:t>
          </a:r>
          <a:endParaRPr lang="en-US" sz="1600" kern="120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Easy deployment with an interactive Streamlit app.</a:t>
          </a:r>
          <a:endParaRPr lang="en-US" sz="1600" kern="1200"/>
        </a:p>
      </dsp:txBody>
      <dsp:txXfrm>
        <a:off x="1582" y="2250272"/>
        <a:ext cx="3261093" cy="1535690"/>
      </dsp:txXfrm>
    </dsp:sp>
    <dsp:sp modelId="{17C2D645-6299-46AE-9470-DED12174A0E3}">
      <dsp:nvSpPr>
        <dsp:cNvPr id="0" name=""/>
        <dsp:cNvSpPr/>
      </dsp:nvSpPr>
      <dsp:spPr>
        <a:xfrm>
          <a:off x="3833367" y="406841"/>
          <a:ext cx="1141382" cy="11413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8CE54A-FFEB-46E0-BE1B-5773288FEBCE}">
      <dsp:nvSpPr>
        <dsp:cNvPr id="0" name=""/>
        <dsp:cNvSpPr/>
      </dsp:nvSpPr>
      <dsp:spPr>
        <a:xfrm>
          <a:off x="3833367" y="1693526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200" b="1" i="0" kern="1200" baseline="0"/>
            <a:t>Limitations:</a:t>
          </a:r>
          <a:endParaRPr lang="en-US" sz="2200" kern="1200"/>
        </a:p>
      </dsp:txBody>
      <dsp:txXfrm>
        <a:off x="3833367" y="1693526"/>
        <a:ext cx="3261093" cy="489164"/>
      </dsp:txXfrm>
    </dsp:sp>
    <dsp:sp modelId="{795832A7-53AA-4401-A277-E6FA61A7F458}">
      <dsp:nvSpPr>
        <dsp:cNvPr id="0" name=""/>
        <dsp:cNvSpPr/>
      </dsp:nvSpPr>
      <dsp:spPr>
        <a:xfrm>
          <a:off x="3833367" y="2250272"/>
          <a:ext cx="3261093" cy="1535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Imbalance in class distribution affects non-toxic predictions.</a:t>
          </a:r>
          <a:endParaRPr lang="en-US" sz="1600" kern="120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Complex toxicity level predictions require further tuning.</a:t>
          </a:r>
          <a:endParaRPr lang="en-US" sz="1600" kern="1200"/>
        </a:p>
      </dsp:txBody>
      <dsp:txXfrm>
        <a:off x="3833367" y="2250272"/>
        <a:ext cx="3261093" cy="1535690"/>
      </dsp:txXfrm>
    </dsp:sp>
    <dsp:sp modelId="{64A4547B-8BCB-4CDD-A448-7768B9A33B98}">
      <dsp:nvSpPr>
        <dsp:cNvPr id="0" name=""/>
        <dsp:cNvSpPr/>
      </dsp:nvSpPr>
      <dsp:spPr>
        <a:xfrm>
          <a:off x="7665152" y="406841"/>
          <a:ext cx="1141382" cy="114138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BDD8D8-FDE4-4478-85A7-59E035AB8293}">
      <dsp:nvSpPr>
        <dsp:cNvPr id="0" name=""/>
        <dsp:cNvSpPr/>
      </dsp:nvSpPr>
      <dsp:spPr>
        <a:xfrm>
          <a:off x="7665152" y="1693526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200" b="1" i="0" kern="1200" baseline="0"/>
            <a:t>Proposed Improvements:</a:t>
          </a:r>
          <a:endParaRPr lang="en-US" sz="2200" kern="1200"/>
        </a:p>
      </dsp:txBody>
      <dsp:txXfrm>
        <a:off x="7665152" y="1693526"/>
        <a:ext cx="3261093" cy="489164"/>
      </dsp:txXfrm>
    </dsp:sp>
    <dsp:sp modelId="{CEC69033-DE65-4C7B-8488-2B61C9EC4BB3}">
      <dsp:nvSpPr>
        <dsp:cNvPr id="0" name=""/>
        <dsp:cNvSpPr/>
      </dsp:nvSpPr>
      <dsp:spPr>
        <a:xfrm>
          <a:off x="7665152" y="2250272"/>
          <a:ext cx="3261093" cy="1535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Use oversampling techniques like SMOTE to balance data.</a:t>
          </a:r>
          <a:endParaRPr lang="en-US" sz="1600" kern="120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Simplify toxicity levels for clarity and better predictions.</a:t>
          </a:r>
          <a:endParaRPr lang="en-US" sz="1600" kern="120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Explore interpretability with SHAP for feature importance.</a:t>
          </a:r>
          <a:endParaRPr lang="en-US" sz="1600" kern="1200"/>
        </a:p>
      </dsp:txBody>
      <dsp:txXfrm>
        <a:off x="7665152" y="2250272"/>
        <a:ext cx="3261093" cy="15356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8FE7F1-8B04-4DB9-8BFF-63C48465D65E}">
      <dsp:nvSpPr>
        <dsp:cNvPr id="0" name=""/>
        <dsp:cNvSpPr/>
      </dsp:nvSpPr>
      <dsp:spPr>
        <a:xfrm>
          <a:off x="2169914" y="80662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894942-AC8C-4AA7-85F7-137C9A520684}">
      <dsp:nvSpPr>
        <dsp:cNvPr id="0" name=""/>
        <dsp:cNvSpPr/>
      </dsp:nvSpPr>
      <dsp:spPr>
        <a:xfrm>
          <a:off x="765914" y="1766016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b="1" kern="1200"/>
            <a:t>Achievements:</a:t>
          </a:r>
          <a:endParaRPr lang="en-US" sz="3600" kern="1200"/>
        </a:p>
      </dsp:txBody>
      <dsp:txXfrm>
        <a:off x="765914" y="1766016"/>
        <a:ext cx="4320000" cy="648000"/>
      </dsp:txXfrm>
    </dsp:sp>
    <dsp:sp modelId="{C345A638-BBC2-4B2F-9B64-A88CC87F6153}">
      <dsp:nvSpPr>
        <dsp:cNvPr id="0" name=""/>
        <dsp:cNvSpPr/>
      </dsp:nvSpPr>
      <dsp:spPr>
        <a:xfrm>
          <a:off x="765914" y="2494645"/>
          <a:ext cx="4320000" cy="1617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Demonstrated AI’s potential in predictive toxicology.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Validated models with high precision and R² scores.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Deployed a user-friendly application for chemical safety predictions.</a:t>
          </a:r>
        </a:p>
      </dsp:txBody>
      <dsp:txXfrm>
        <a:off x="765914" y="2494645"/>
        <a:ext cx="4320000" cy="1617497"/>
      </dsp:txXfrm>
    </dsp:sp>
    <dsp:sp modelId="{F7931DC1-6913-49EC-80A9-6321489A0337}">
      <dsp:nvSpPr>
        <dsp:cNvPr id="0" name=""/>
        <dsp:cNvSpPr/>
      </dsp:nvSpPr>
      <dsp:spPr>
        <a:xfrm>
          <a:off x="7245914" y="80662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ED2A53-F9FF-4F0F-8301-1F9416CD029C}">
      <dsp:nvSpPr>
        <dsp:cNvPr id="0" name=""/>
        <dsp:cNvSpPr/>
      </dsp:nvSpPr>
      <dsp:spPr>
        <a:xfrm>
          <a:off x="5841914" y="1766016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b="1" kern="1200"/>
            <a:t>Future Steps:</a:t>
          </a:r>
          <a:endParaRPr lang="en-US" sz="3600" kern="1200"/>
        </a:p>
      </dsp:txBody>
      <dsp:txXfrm>
        <a:off x="5841914" y="1766016"/>
        <a:ext cx="4320000" cy="648000"/>
      </dsp:txXfrm>
    </dsp:sp>
    <dsp:sp modelId="{0D0B6121-922F-4441-89E8-BEFD1A9F73BC}">
      <dsp:nvSpPr>
        <dsp:cNvPr id="0" name=""/>
        <dsp:cNvSpPr/>
      </dsp:nvSpPr>
      <dsp:spPr>
        <a:xfrm>
          <a:off x="5841914" y="2494645"/>
          <a:ext cx="4320000" cy="1617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Refine models with more diverse datasets.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Deploy cloud-based services (e.g., AWS SageMaker) for broader accessibility.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Integrate additional features for enhanced toxicity prediction.</a:t>
          </a:r>
        </a:p>
      </dsp:txBody>
      <dsp:txXfrm>
        <a:off x="5841914" y="2494645"/>
        <a:ext cx="4320000" cy="161749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566B90-1E53-4C2D-9FE1-4DA7ADE69E14}">
      <dsp:nvSpPr>
        <dsp:cNvPr id="0" name=""/>
        <dsp:cNvSpPr/>
      </dsp:nvSpPr>
      <dsp:spPr>
        <a:xfrm>
          <a:off x="1765679" y="72025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66D1F6-E381-46BE-AE0F-EBC7133F90FB}">
      <dsp:nvSpPr>
        <dsp:cNvPr id="0" name=""/>
        <dsp:cNvSpPr/>
      </dsp:nvSpPr>
      <dsp:spPr>
        <a:xfrm>
          <a:off x="361679" y="173117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b="1" i="0" kern="1200" baseline="0"/>
            <a:t>Why It Matters:</a:t>
          </a:r>
          <a:endParaRPr lang="en-US" sz="3600" kern="1200"/>
        </a:p>
      </dsp:txBody>
      <dsp:txXfrm>
        <a:off x="361679" y="1731175"/>
        <a:ext cx="4320000" cy="648000"/>
      </dsp:txXfrm>
    </dsp:sp>
    <dsp:sp modelId="{DB11DF86-864F-421F-AB00-E071490F7DFC}">
      <dsp:nvSpPr>
        <dsp:cNvPr id="0" name=""/>
        <dsp:cNvSpPr/>
      </dsp:nvSpPr>
      <dsp:spPr>
        <a:xfrm>
          <a:off x="361679" y="2447617"/>
          <a:ext cx="4320000" cy="1046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Reduces costs and time in drug development.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Enhances chemical safety for human health and the environment.</a:t>
          </a:r>
          <a:endParaRPr lang="en-US" sz="1700" kern="1200"/>
        </a:p>
      </dsp:txBody>
      <dsp:txXfrm>
        <a:off x="361679" y="2447617"/>
        <a:ext cx="4320000" cy="1046517"/>
      </dsp:txXfrm>
    </dsp:sp>
    <dsp:sp modelId="{477A253A-92FC-416B-8895-FC0D9ACE8EBB}">
      <dsp:nvSpPr>
        <dsp:cNvPr id="0" name=""/>
        <dsp:cNvSpPr/>
      </dsp:nvSpPr>
      <dsp:spPr>
        <a:xfrm>
          <a:off x="6841680" y="72025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3EC40F-410F-43BF-A665-4F4179EFEE93}">
      <dsp:nvSpPr>
        <dsp:cNvPr id="0" name=""/>
        <dsp:cNvSpPr/>
      </dsp:nvSpPr>
      <dsp:spPr>
        <a:xfrm>
          <a:off x="5437679" y="173117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b="1" i="0" kern="1200" baseline="0"/>
            <a:t>Your Role:</a:t>
          </a:r>
          <a:endParaRPr lang="en-US" sz="3600" kern="1200"/>
        </a:p>
      </dsp:txBody>
      <dsp:txXfrm>
        <a:off x="5437679" y="1731175"/>
        <a:ext cx="4320000" cy="648000"/>
      </dsp:txXfrm>
    </dsp:sp>
    <dsp:sp modelId="{EF9150D4-6F61-4B9F-998D-B07EC037B9C8}">
      <dsp:nvSpPr>
        <dsp:cNvPr id="0" name=""/>
        <dsp:cNvSpPr/>
      </dsp:nvSpPr>
      <dsp:spPr>
        <a:xfrm>
          <a:off x="5437679" y="2447617"/>
          <a:ext cx="4320000" cy="1046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Collaborated on model building, data analysis, and deployment.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Applied cutting-edge AI techniques to address a real-world challenge.</a:t>
          </a:r>
          <a:endParaRPr lang="en-US" sz="1700" kern="1200"/>
        </a:p>
      </dsp:txBody>
      <dsp:txXfrm>
        <a:off x="5437679" y="2447617"/>
        <a:ext cx="4320000" cy="10465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01060-874C-45BF-6AA2-73EB269BB9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BF29E2-9160-9DFD-D0FA-2AEE2C114E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8C20F-FF2C-3F61-01AB-CDB4FD37B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ACD14-793C-4E55-96D7-E186F60D154E}" type="datetimeFigureOut">
              <a:rPr lang="en-CA" smtClean="0"/>
              <a:t>2024-12-06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A92DFC-AFE6-C79D-EEC3-9FAE681F2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D1B36-19D6-88E6-083D-14E093BF0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1CCBB-53F2-49C7-8F31-86EB64AA13B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8024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2AA28-AB90-F2E4-07EF-89653C151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03CAE-5FD0-C6FB-CA9D-9CD639C1E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EAD56-245C-7F0D-FF1A-A112EA299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ACD14-793C-4E55-96D7-E186F60D154E}" type="datetimeFigureOut">
              <a:rPr lang="en-CA" smtClean="0"/>
              <a:t>2024-12-06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9C05A-4912-D02F-0DE4-39A163FC7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DB692-C7AA-361E-EBC6-D7DD9F796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1CCBB-53F2-49C7-8F31-86EB64AA13B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2532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B8890-D7CF-E014-427E-7973823EC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501EA2-A2A6-8477-4F1D-8C07D8934F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5AD5A-7E7C-8F0D-33BA-421CC2511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ACD14-793C-4E55-96D7-E186F60D154E}" type="datetimeFigureOut">
              <a:rPr lang="en-CA" smtClean="0"/>
              <a:t>2024-12-06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9358B-8163-632C-211A-8B12498B8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382640-C1C8-48AA-B69F-FD3B2F253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1CCBB-53F2-49C7-8F31-86EB64AA13B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69366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49F73-1254-BB69-D9AF-E9F81ADF9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F3B7E-859D-4EC7-6B12-D9E4AF455D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683AF-A3F2-56CF-8A33-F3F1C5A244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47A3AD-40D6-B9A1-854B-FF450BD0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ACD14-793C-4E55-96D7-E186F60D154E}" type="datetimeFigureOut">
              <a:rPr lang="en-CA" smtClean="0"/>
              <a:t>2024-12-06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79CF64-2BE3-03AB-BE3C-A94676853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8F6FBB-D535-06EF-58E8-1C611A003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1CCBB-53F2-49C7-8F31-86EB64AA13B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76318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FBD7A-2FF2-B2F7-00BF-F87439E4E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37F2DD-CFED-C58D-AC8B-DCF92025C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AEAC33-7617-9709-1467-0B2B1B720B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34084F-1E4A-6F5A-0710-6E3EF2C810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155B4B-D302-93A7-6509-56A0AD306D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C24C5E-81C2-D08C-F0C5-E465B425E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ACD14-793C-4E55-96D7-E186F60D154E}" type="datetimeFigureOut">
              <a:rPr lang="en-CA" smtClean="0"/>
              <a:t>2024-12-06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D50CB3-A838-CCF7-E33E-50933198A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4A42A4-8576-ABCD-DD00-12E7D8EFA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1CCBB-53F2-49C7-8F31-86EB64AA13B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59073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4C21D-176C-55BF-DB9A-33E980B45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2103D0-477A-8C3D-E3FA-5E269A9AF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ACD14-793C-4E55-96D7-E186F60D154E}" type="datetimeFigureOut">
              <a:rPr lang="en-CA" smtClean="0"/>
              <a:t>2024-12-06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FC209F-B971-C36A-AF87-C25B93447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3ED4F6-D1BA-996B-1B5C-607A1F7FF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1CCBB-53F2-49C7-8F31-86EB64AA13B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93019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D80096-5164-CE30-7185-9B718DF2A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ACD14-793C-4E55-96D7-E186F60D154E}" type="datetimeFigureOut">
              <a:rPr lang="en-CA" smtClean="0"/>
              <a:t>2024-12-06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97BA8C-DF7A-7E33-275D-E6D4564CD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447E73-A2A7-EF4F-FD61-894E298EF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1CCBB-53F2-49C7-8F31-86EB64AA13B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18429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B9320-8455-98DC-70FB-A25312F9F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E91DD-FC4C-4AF2-717E-D908FA742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064F7-E7BE-AD70-D30E-4EE6107805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E5733F-90D8-C2A6-6ED4-5C64EAA0F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ACD14-793C-4E55-96D7-E186F60D154E}" type="datetimeFigureOut">
              <a:rPr lang="en-CA" smtClean="0"/>
              <a:t>2024-12-06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ADF5B8-8E47-C022-4B2D-0328CA1A7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01859-6186-0046-20DD-088852289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1CCBB-53F2-49C7-8F31-86EB64AA13B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78555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C544A-BA2D-D090-F879-B094C456E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C41F54-AFE7-8ED4-5FE4-831DF2AAF0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EB8827-8E4D-19AA-ED44-092B7AC19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42A91E-8EBC-30D1-AE40-47BF53E7E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ACD14-793C-4E55-96D7-E186F60D154E}" type="datetimeFigureOut">
              <a:rPr lang="en-CA" smtClean="0"/>
              <a:t>2024-12-06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DD589B-866C-CB4C-E81E-AECEDECFC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F1C509-C65F-522F-40E9-F2FE02898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1CCBB-53F2-49C7-8F31-86EB64AA13B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31950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6D2C1-6A2D-CFD8-4D79-ACBB6FB14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E3579E-5295-67EF-F239-9627B8B2BC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5630C-EF79-166E-C72A-304DDB6E7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ACD14-793C-4E55-96D7-E186F60D154E}" type="datetimeFigureOut">
              <a:rPr lang="en-CA" smtClean="0"/>
              <a:t>2024-12-06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EF9F1-83D8-4E70-4D46-2FCCB2DBE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857B9-4B5C-1ED4-C7DB-3D2F0DD6A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1CCBB-53F2-49C7-8F31-86EB64AA13B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5304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06DC26-5791-3CCC-6630-9B7307DB05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94AF45-2794-1D5E-435C-056892DDE1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E2731-4552-37EE-3837-4526BE5C1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ACD14-793C-4E55-96D7-E186F60D154E}" type="datetimeFigureOut">
              <a:rPr lang="en-CA" smtClean="0"/>
              <a:t>2024-12-06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642159-0551-BDF6-84E5-BB88CDBCE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9ED2E-9B52-01B9-A59D-748BE8B28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1CCBB-53F2-49C7-8F31-86EB64AA13B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55959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31B385-0C6D-008F-FF57-2A9E6DEF0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783C9B-D83E-EE71-BE2C-391D6D0DD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B7229-4B83-DD38-5C42-94983A5EDF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8ACD14-793C-4E55-96D7-E186F60D154E}" type="datetimeFigureOut">
              <a:rPr lang="en-CA" smtClean="0"/>
              <a:t>2024-12-06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3370C-66F7-2BF4-6916-FF47DFB6DC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260B72-328A-388E-2808-EEC396A19D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E1CCBB-53F2-49C7-8F31-86EB64AA13B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3769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3730C3-8A5A-42BF-4703-94BCA6425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AI in Predictive Toxicology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B8F7FD-83E4-AC44-4C4D-10975EEBAA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1478048"/>
            <a:ext cx="7225748" cy="3901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08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A99348-E961-69A2-E576-E4D2C4EE37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53733" y="548464"/>
            <a:ext cx="6798541" cy="167562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000"/>
              <a:t>Project Overview</a:t>
            </a:r>
          </a:p>
        </p:txBody>
      </p:sp>
      <p:pic>
        <p:nvPicPr>
          <p:cNvPr id="9" name="Picture 8" descr="Pens and rulers">
            <a:extLst>
              <a:ext uri="{FF2B5EF4-FFF2-40B4-BE49-F238E27FC236}">
                <a16:creationId xmlns:a16="http://schemas.microsoft.com/office/drawing/2014/main" id="{67518A39-C259-C710-8D5B-55D9ED1482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341" r="32813" b="-1"/>
          <a:stretch/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2681F9A5-0E6F-1097-85BE-0D108EF1A76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553734" y="2409830"/>
            <a:ext cx="6798539" cy="370521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</a:rPr>
              <a:t>Objective: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Predict chemical toxicity to improve early-stage drug development and reduce resource costs.</a:t>
            </a:r>
          </a:p>
          <a:p>
            <a:pPr marL="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700" b="1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</a:rPr>
              <a:t>Significance: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Supports pharmaceutical innovation by identifying toxic compounds earlier.</a:t>
            </a:r>
          </a:p>
          <a:p>
            <a:pPr marL="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700" b="1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</a:rPr>
              <a:t>Scope: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Two predictive models for chemical toxicity:</a:t>
            </a:r>
          </a:p>
          <a:p>
            <a:pPr marL="457200" marR="0" lvl="1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</a:rPr>
              <a:t>Model 1: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 Toxic vs. Non-Toxic classification.</a:t>
            </a:r>
          </a:p>
          <a:p>
            <a:pPr marL="457200" marR="0" lvl="1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</a:rPr>
              <a:t>Model 2: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 Toxicity Level Prediction.</a:t>
            </a:r>
          </a:p>
          <a:p>
            <a:pPr marL="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15392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BE2D0C-A157-30C1-AD65-2F804C90E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6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CA" sz="5400"/>
              <a:t>Data and Methodology</a:t>
            </a:r>
          </a:p>
        </p:txBody>
      </p:sp>
      <p:pic>
        <p:nvPicPr>
          <p:cNvPr id="6" name="Picture 5" descr="Chemical formulas are written on paper">
            <a:extLst>
              <a:ext uri="{FF2B5EF4-FFF2-40B4-BE49-F238E27FC236}">
                <a16:creationId xmlns:a16="http://schemas.microsoft.com/office/drawing/2014/main" id="{59F7305F-2A88-C44B-93E0-49BBF2294B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153" r="33608"/>
          <a:stretch/>
        </p:blipFill>
        <p:spPr>
          <a:xfrm>
            <a:off x="20" y="1"/>
            <a:ext cx="4052522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2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D41FB75-3D0B-0A73-C2E3-873839893B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54296" y="2706624"/>
            <a:ext cx="6894576" cy="348386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Dataset:</a:t>
            </a:r>
            <a:endParaRPr kumimoji="0" lang="en-US" altLang="en-US" sz="1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000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PubChem Compound Dataset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with features like molecular weight, polar surface area, and hydrogen bond donors.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000" b="1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Steps:</a:t>
            </a:r>
            <a:endParaRPr kumimoji="0" lang="en-US" altLang="en-US" sz="1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Data Preprocessing:</a:t>
            </a:r>
            <a:endParaRPr kumimoji="0" lang="en-US" altLang="en-US" sz="1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Handled missing values with imputation.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Dropped irrelevant features (e.g., synonyms, annotations).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Feature Engineering:</a:t>
            </a:r>
            <a:endParaRPr kumimoji="0" lang="en-US" altLang="en-US" sz="1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Label encoding for categorical variables.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Feature selection based on correlation analysis.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Model Training:</a:t>
            </a:r>
            <a:endParaRPr kumimoji="0" lang="en-US" altLang="en-US" sz="1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Random Forest for classification and regression tasks.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Evaluated using train-test split (80%-20%).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8814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6C091E-8F9E-AB6B-C0B5-5D03C72B7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r>
              <a:rPr lang="en-CA" sz="4000"/>
              <a:t>Model 1 - Binary Classification</a:t>
            </a:r>
          </a:p>
        </p:txBody>
      </p:sp>
      <p:pic>
        <p:nvPicPr>
          <p:cNvPr id="7" name="Picture 6" descr="Molecular structure and periodic table on a desk">
            <a:extLst>
              <a:ext uri="{FF2B5EF4-FFF2-40B4-BE49-F238E27FC236}">
                <a16:creationId xmlns:a16="http://schemas.microsoft.com/office/drawing/2014/main" id="{753710D6-CC57-3210-5949-801B617B3F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820" r="46335" b="-1"/>
          <a:stretch/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BCC2CAD2-52FA-CBC8-3DF3-EFFFF39A88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53734" y="2409830"/>
            <a:ext cx="6798539" cy="370521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Classify chemicals as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toxic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or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non-toxic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300" b="1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Key Features: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Molecular weight, complexity, polar area, xlogP, etc.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300" b="1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Results:</a:t>
            </a:r>
            <a:endParaRPr kumimoji="0" lang="en-US" altLang="en-US" sz="13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Accuracy: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91.9%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Precision (Toxic):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97.3%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Precision (Non-Toxic):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68.7%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300" b="1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Insights:</a:t>
            </a:r>
            <a:endParaRPr kumimoji="0" lang="en-US" altLang="en-US" sz="13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High precision for toxic chemicals.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Performance challenges with non-toxic due to class imbalance.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3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76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8291E1-A301-1661-DD57-EB0623C4B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r>
              <a:rPr lang="en-US" sz="4000"/>
              <a:t>Model 2 - Toxicity Level Prediction</a:t>
            </a:r>
            <a:endParaRPr lang="en-CA" sz="4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F5DA05-F596-6E2A-1613-FAFE2CB3C3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047" r="44533"/>
          <a:stretch/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5B17738D-44F0-72EC-ED00-902E2127F6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53734" y="2409830"/>
            <a:ext cx="6798539" cy="370521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Predict toxicity levels of compounds.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400" b="1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Key Features: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Similar to Model 1.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b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Results:</a:t>
            </a:r>
            <a:endParaRPr kumimoji="0" lang="en-US" altLang="en-US" sz="1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Mean Absolute Error (MAE):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0.006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R² Score: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99.9% (on validation data)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400" b="1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Insights:</a:t>
            </a:r>
            <a:endParaRPr kumimoji="0" lang="en-US" altLang="en-US" sz="1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Accurate for toxicity level prediction but needs refinement for specific toxicity thresholds.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7540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8E2F71-9853-B1BA-D594-1A6C93890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2583" y="501651"/>
            <a:ext cx="4434720" cy="1716255"/>
          </a:xfrm>
        </p:spPr>
        <p:txBody>
          <a:bodyPr anchor="b">
            <a:normAutofit/>
          </a:bodyPr>
          <a:lstStyle/>
          <a:p>
            <a:r>
              <a:rPr lang="en-CA" sz="5600"/>
              <a:t>Deployment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4956B0-10CA-917C-51E0-2811EBBA39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33" r="3" b="3"/>
          <a:stretch/>
        </p:blipFill>
        <p:spPr>
          <a:xfrm>
            <a:off x="192056" y="3575633"/>
            <a:ext cx="5221625" cy="30103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FE63A8E-30C3-9E1C-68D9-1C6DF7E50C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436" b="3"/>
          <a:stretch/>
        </p:blipFill>
        <p:spPr>
          <a:xfrm>
            <a:off x="192057" y="293266"/>
            <a:ext cx="5221625" cy="3010397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399B92C1-D44F-615C-4F9A-7E7D8EFE2F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92583" y="2645922"/>
            <a:ext cx="4434721" cy="371042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Process: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Model Saving: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Trained models saved as </a:t>
            </a:r>
            <a:r>
              <a:rPr lang="en-US" altLang="en-US" sz="16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.</a:t>
            </a:r>
            <a:r>
              <a:rPr lang="en-US" altLang="en-US" sz="1600" dirty="0" err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pkl</a:t>
            </a:r>
            <a:r>
              <a:rPr lang="en-US" altLang="en-US" sz="16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 files for reproducibility.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Interactive UI: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Built using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 for user-friendly access.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How It Works: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Users input chemical properties.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Outputs predicted toxicity (binary) and toxicity levels.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Demo Highlight: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Accessible via local </a:t>
            </a:r>
            <a:r>
              <a:rPr lang="en-US" altLang="en-US" sz="16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execution: </a:t>
            </a:r>
            <a:r>
              <a:rPr lang="en-US" altLang="en-US" sz="1600" dirty="0" err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streamlit</a:t>
            </a:r>
            <a:r>
              <a:rPr lang="en-US" altLang="en-US" sz="16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</a:rPr>
              <a:t> run toxicity_demo.py.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3893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3598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31A292-C78E-D692-68E8-BC0C894F6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CA" sz="4000">
                <a:solidFill>
                  <a:srgbClr val="FFFFFF"/>
                </a:solidFill>
              </a:rPr>
              <a:t>Key Insights and Learnings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78143479-8EF0-3D9F-1F16-B3E65CEF06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095536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19852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F94725-9371-BBD8-02D8-4E775E7DC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CA" sz="4000">
                <a:solidFill>
                  <a:srgbClr val="FFFFFF"/>
                </a:solidFill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9702B02-1461-75C3-893A-B9804002CC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703303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78626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45A976A-8DE3-4B67-B94B-2044FDD1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EAAA1B9-2DDB-49C9-A037-A523D2F1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2332EA-587B-7228-A683-1FA1376F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7200"/>
            <a:ext cx="10579608" cy="1188720"/>
          </a:xfrm>
        </p:spPr>
        <p:txBody>
          <a:bodyPr>
            <a:normAutofit/>
          </a:bodyPr>
          <a:lstStyle/>
          <a:p>
            <a:r>
              <a:rPr lang="en-CA" sz="4000">
                <a:solidFill>
                  <a:schemeClr val="tx2"/>
                </a:solidFill>
              </a:rPr>
              <a:t>Final Remarks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6566969-F813-4CC5-B3E9-363D85B55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881264" y="-5116"/>
            <a:ext cx="3318648" cy="2490264"/>
            <a:chOff x="-305" y="-1"/>
            <a:chExt cx="3832880" cy="287613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F8CF66C-45E2-456B-92B0-9E97A331D1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65D590E-D70D-4D25-B853-D5208F2AA3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231501E-3F84-4705-A001-13995FA68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52617E4-47FD-4C38-8F70-93BF9B125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217D733-97B6-4C43-AF0C-5E3CB0EA1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07887"/>
            <a:ext cx="2605762" cy="2252847"/>
            <a:chOff x="-305" y="-4155"/>
            <a:chExt cx="2514948" cy="2174333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D288266-7E76-4D4A-BAAC-E233FA013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697F88A-8624-4BA2-AF06-E6C3A52F03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CA77163-C052-481C-9DCF-68C23ACAB3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2B425B5-0A0E-4B85-B718-E5DA73431A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EB84DF2B-B3D8-A191-346A-7C71DFDEE6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6420863"/>
              </p:ext>
            </p:extLst>
          </p:nvPr>
        </p:nvGraphicFramePr>
        <p:xfrm>
          <a:off x="1036320" y="2560320"/>
          <a:ext cx="10119360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68243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499</Words>
  <Application>Microsoft Office PowerPoint</Application>
  <PresentationFormat>Widescreen</PresentationFormat>
  <Paragraphs>92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AI in Predictive Toxicology</vt:lpstr>
      <vt:lpstr>Project Overview</vt:lpstr>
      <vt:lpstr>Data and Methodology</vt:lpstr>
      <vt:lpstr>Model 1 - Binary Classification</vt:lpstr>
      <vt:lpstr>Model 2 - Toxicity Level Prediction</vt:lpstr>
      <vt:lpstr>Deployment</vt:lpstr>
      <vt:lpstr>Key Insights and Learnings</vt:lpstr>
      <vt:lpstr>Conclusion</vt:lpstr>
      <vt:lpstr>Final Remarks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Brian Omar Martinez Martinez</dc:creator>
  <cp:lastModifiedBy>Brian Omar Martinez Martinez</cp:lastModifiedBy>
  <cp:revision>3</cp:revision>
  <dcterms:created xsi:type="dcterms:W3CDTF">2024-12-06T07:00:51Z</dcterms:created>
  <dcterms:modified xsi:type="dcterms:W3CDTF">2024-12-06T07:25:26Z</dcterms:modified>
</cp:coreProperties>
</file>